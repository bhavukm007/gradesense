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cf6686a5ef4aff" /><Relationship Type="http://schemas.openxmlformats.org/officeDocument/2006/relationships/extended-properties" Target="/docProps/app.xml" Id="Rd3f50d69c1a443b4" /><Relationship Type="http://schemas.openxmlformats.org/officeDocument/2006/relationships/officeDocument" Target="/ppt/presentation.xml" Id="R080f1300d0c140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7e508db8cd4bbf"/>
  </p:sldMasterIdLst>
  <p:notesMasterIdLst>
    <p:notesMasterId xmlns:r="http://schemas.openxmlformats.org/officeDocument/2006/relationships" r:id="R4f084b209e9d4747"/>
  </p:notesMasterIdLst>
  <p:sldIdLst>
    <p:sldId xmlns:r="http://schemas.openxmlformats.org/officeDocument/2006/relationships" id="256" r:id="Rc211e929f53e40bc"/>
    <p:sldId xmlns:r="http://schemas.openxmlformats.org/officeDocument/2006/relationships" id="257" r:id="Rbf6a68374b8e4864"/>
    <p:sldId xmlns:r="http://schemas.openxmlformats.org/officeDocument/2006/relationships" id="258" r:id="R5d533a6d5a774736"/>
    <p:sldId xmlns:r="http://schemas.openxmlformats.org/officeDocument/2006/relationships" id="259" r:id="R3dc536016ae045aa"/>
    <p:sldId xmlns:r="http://schemas.openxmlformats.org/officeDocument/2006/relationships" id="260" r:id="Rd77a65d35b134efd"/>
    <p:sldId xmlns:r="http://schemas.openxmlformats.org/officeDocument/2006/relationships" id="261" r:id="Rdd189fe0344e42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2dda10f8664892" /><Relationship Type="http://schemas.openxmlformats.org/officeDocument/2006/relationships/slideMaster" Target="/ppt/slideMasters/slideMaster1.xml" Id="Rff7e508db8cd4bbf" /><Relationship Type="http://schemas.openxmlformats.org/officeDocument/2006/relationships/notesMaster" Target="/ppt/notesMasters/notesMaster1.xml" Id="R4f084b209e9d4747" /><Relationship Type="http://schemas.openxmlformats.org/officeDocument/2006/relationships/presProps" Target="/ppt/presProps.xml" Id="R03ce2f0b17a94eff" /><Relationship Type="http://schemas.openxmlformats.org/officeDocument/2006/relationships/viewProps" Target="/ppt/viewProps.xml" Id="Rdfdc5f172e5f4899" /><Relationship Type="http://schemas.openxmlformats.org/officeDocument/2006/relationships/tableStyles" Target="/ppt/tableStyles.xml" Id="Ra1adf7f874cb4c49" /><Relationship Type="http://schemas.openxmlformats.org/officeDocument/2006/relationships/slide" Target="/ppt/slides/slide1.xml" Id="Rc211e929f53e40bc" /><Relationship Type="http://schemas.openxmlformats.org/officeDocument/2006/relationships/slide" Target="/ppt/slides/slide2.xml" Id="Rbf6a68374b8e4864" /><Relationship Type="http://schemas.openxmlformats.org/officeDocument/2006/relationships/slide" Target="/ppt/slides/slide3.xml" Id="R5d533a6d5a774736" /><Relationship Type="http://schemas.openxmlformats.org/officeDocument/2006/relationships/slide" Target="/ppt/slides/slide4.xml" Id="R3dc536016ae045aa" /><Relationship Type="http://schemas.openxmlformats.org/officeDocument/2006/relationships/slide" Target="/ppt/slides/slide5.xml" Id="Rd77a65d35b134efd" /><Relationship Type="http://schemas.openxmlformats.org/officeDocument/2006/relationships/slide" Target="/ppt/slides/slide6.xml" Id="Rdd189fe0344e42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80b9ce33c343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b11b82c3e5494d" /><Relationship Type="http://schemas.openxmlformats.org/officeDocument/2006/relationships/notesMaster" Target="/ppt/notesMasters/notesMaster1.xml" Id="Rf4057b31914144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c9c84c994e477b" /><Relationship Type="http://schemas.openxmlformats.org/officeDocument/2006/relationships/notesMaster" Target="/ppt/notesMasters/notesMaster1.xml" Id="Ra62f70ad0e4a46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ac929f35124e99" /><Relationship Type="http://schemas.openxmlformats.org/officeDocument/2006/relationships/notesMaster" Target="/ppt/notesMasters/notesMaster1.xml" Id="Ra3ecd341d49d4e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3e93c8a90b49bd" /><Relationship Type="http://schemas.openxmlformats.org/officeDocument/2006/relationships/notesMaster" Target="/ppt/notesMasters/notesMaster1.xml" Id="Ra6b2951efd5b48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8312ee4368465b" /><Relationship Type="http://schemas.openxmlformats.org/officeDocument/2006/relationships/notesMaster" Target="/ppt/notesMasters/notesMaster1.xml" Id="Rad4fd7a323d940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efdc052863437d" /><Relationship Type="http://schemas.openxmlformats.org/officeDocument/2006/relationships/notesMaster" Target="/ppt/notesMasters/notesMaster1.xml" Id="Re9f76976f82c42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GradeSense README.md</a:t>
            </a:r>
          </a:p>
          <a:p xmlns:a="http://schemas.openxmlformats.org/drawingml/2006/main"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README.md and docs/SYSTEM_ARCHITECTURE.md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docs/SYSTEM_ARCHITECTURE.md, backend/app, frontend/src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backend/app/services/explainability.py, recommendation.py, intervention.py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Business-impact wording is directional; no unvalidated ROI figures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live local GradeSense application captured 2026-07-26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Screenshots: Submission/screenshots/Home.png, Prediction.png, Recommendation.png, Analytics.png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docker-compose.yml, render.yaml, docs/DEPLOYMENT.md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32a6d35604d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e0339bdcd44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143a24a2bf48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1f8643e5b4e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969bc8e2834b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4bc4ba31f342e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856a090a1491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e398c27464cb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49c725439b48a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d0c0b5f464c4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16ca55484b4aa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973010-25E5-4CCE-90DA-115D49A3A55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058B85D-F814-4FF1-A755-2B35C151CE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133CF5-D305-40D8-BA34-0D8C29C1AB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3AC8BC-A3E0-4034-B642-940D47F7C2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58298F-2872-4CFC-B789-792C7169BC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7DF429-2D3C-40E1-8393-CCF41BBA63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6B0D5B1-089F-446B-862C-6F17FA37320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5FE46F-7F62-435C-B4E0-1F17B4C1DA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09CECC-E945-41F0-A199-E9867E9947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067ADD-B6C9-4B11-A903-A2980254E8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A9AD8A-9ACE-43BD-B4C6-A88DDBF460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8509EA1-A56C-4169-B81C-41A9F154DA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95F695-CF5D-4CF9-AE97-97416EBF98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B224C7-FD19-4262-8FAC-927A505960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3BA666-4597-42A0-80FB-B6CF989674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F8E4FD-240B-4438-B2ED-2ECFC2CD06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AF5D3CD-97D9-4272-9B89-7D467C0EE0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14415E2-8AC6-4C1A-A2E2-58A24F3C5B5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2386AE4-21A2-4DC6-B3F5-9443159CB0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C36EA5-8D69-4082-9185-C0452FC4B6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0C4562-B7AF-4510-B076-16E9700AAE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503408-F6E5-466D-97DA-C9CD5A40FC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DC8B78-3F13-4A38-B565-68066B2BA6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34D1A54-AE85-4426-A82B-99029164322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4B02A28-0954-41A1-804E-F56724C8BAB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D2E8248-28F9-4B68-919D-C873D83C536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805788-2541-49E4-A19B-7E71052014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7/24/2026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E44227-26F4-45D8-AC72-D72B657784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83F681-587D-412B-819F-C9A4A5818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EFBD24-3339-488F-A96C-74FBF30390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0E48A1-FFA3-4772-B45D-1FBE7E1DB4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7/24/2026</a:t>
            </a:fld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8B1095-66E7-4E67-8298-130486F6DF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D36EA7-6987-497B-B757-9FB42B844E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AFBC51-DFEF-4858-A1BA-20132BBA16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7/24/2026</a:t>
            </a:fld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0691EC-8FF7-4B91-B4A3-1C031F11D9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D1E496-F232-4726-80C6-FADFB3DBAB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102A2A-D41B-489D-BA33-67A5FF480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EB8A344-0303-4B77-AF90-E739A305746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5A053F9-B1C8-410D-8C25-BD0C1A1C77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A4E4A0-26DE-4EFC-8E52-36DC394DF5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5BD37E-A806-42F2-8082-675730AD96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D63667-7084-4D95-B585-6A241D624D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F31653-E5BF-497A-97D0-C7128762FA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A8B3DC2-360C-45C7-A890-B48A39F719F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8F262B1-57B7-4ACC-A38F-9A6130E553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089237-9E52-47DB-9210-CE7F376B5C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648C75-53A1-49E9-9B26-E560F849CD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052E30F-EA18-4A37-BFDF-8B8EC4F768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9A0EBC-D991-423B-A050-CBDA572116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008739-5664-4573-BF91-0D9B720FEC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5D118E-5B20-4784-8071-8D5550963D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44D85E-1251-435B-BEAA-E3BA6C33F8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39818C-D816-477F-9416-979D1FBBBC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F75E78F-1E6B-43F6-85EB-0579518109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20F787E-9D04-4E2C-B039-60292CC6CB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6C8B09-C214-4FA6-85A1-96591E3CC1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A09806-4DE5-4878-9CD5-BFF0B5B8C0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33EFCD-18C2-42BB-BB3B-B39B7683A4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2a057ba0804835" /><Relationship Type="http://schemas.openxmlformats.org/officeDocument/2006/relationships/slideLayout" Target="/ppt/slideLayouts/slideLayout1.xml" Id="R6a06134e9913476a" /><Relationship Type="http://schemas.openxmlformats.org/officeDocument/2006/relationships/slideLayout" Target="/ppt/slideLayouts/slideLayout2.xml" Id="Rf7ec39c2c6c54b00" /><Relationship Type="http://schemas.openxmlformats.org/officeDocument/2006/relationships/slideLayout" Target="/ppt/slideLayouts/slideLayout3.xml" Id="Rc2c8fb1da02a4b4e" /><Relationship Type="http://schemas.openxmlformats.org/officeDocument/2006/relationships/slideLayout" Target="/ppt/slideLayouts/slideLayout4.xml" Id="R63453ff79fd54539" /><Relationship Type="http://schemas.openxmlformats.org/officeDocument/2006/relationships/slideLayout" Target="/ppt/slideLayouts/slideLayout5.xml" Id="R064bac4ce38c45d7" /><Relationship Type="http://schemas.openxmlformats.org/officeDocument/2006/relationships/slideLayout" Target="/ppt/slideLayouts/slideLayout6.xml" Id="Re7d498b9c76d413e" /><Relationship Type="http://schemas.openxmlformats.org/officeDocument/2006/relationships/slideLayout" Target="/ppt/slideLayouts/slideLayout7.xml" Id="R1c9ff2d109a643fd" /><Relationship Type="http://schemas.openxmlformats.org/officeDocument/2006/relationships/slideLayout" Target="/ppt/slideLayouts/slideLayout8.xml" Id="R2de92497c6504ae3" /><Relationship Type="http://schemas.openxmlformats.org/officeDocument/2006/relationships/slideLayout" Target="/ppt/slideLayouts/slideLayout9.xml" Id="R400d869659954711" /><Relationship Type="http://schemas.openxmlformats.org/officeDocument/2006/relationships/slideLayout" Target="/ppt/slideLayouts/slideLayout10.xml" Id="Rcca94562654c4a1e" /><Relationship Type="http://schemas.openxmlformats.org/officeDocument/2006/relationships/slideLayout" Target="/ppt/slideLayouts/slideLayout11.xml" Id="R65bdcd31f9f34d1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2513CD8-818D-4CBE-AF2F-E25C60A75B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EE91228-662A-4B2F-A00E-3DCB44F208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990430-90CC-483E-90C8-39685D58E4C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DFBFF7-8E64-4C46-B90A-9404B03828E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E62547-E558-4906-860D-4398485F593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06134e9913476a"/>
    <p:sldLayoutId xmlns:r="http://schemas.openxmlformats.org/officeDocument/2006/relationships" id="2147483650" r:id="Rf7ec39c2c6c54b00"/>
    <p:sldLayoutId xmlns:r="http://schemas.openxmlformats.org/officeDocument/2006/relationships" id="2147483651" r:id="Rc2c8fb1da02a4b4e"/>
    <p:sldLayoutId xmlns:r="http://schemas.openxmlformats.org/officeDocument/2006/relationships" id="2147483652" r:id="R63453ff79fd54539"/>
    <p:sldLayoutId xmlns:r="http://schemas.openxmlformats.org/officeDocument/2006/relationships" id="2147483653" r:id="R064bac4ce38c45d7"/>
    <p:sldLayoutId xmlns:r="http://schemas.openxmlformats.org/officeDocument/2006/relationships" id="2147483654" r:id="Re7d498b9c76d413e"/>
    <p:sldLayoutId xmlns:r="http://schemas.openxmlformats.org/officeDocument/2006/relationships" id="2147483655" r:id="R1c9ff2d109a643fd"/>
    <p:sldLayoutId xmlns:r="http://schemas.openxmlformats.org/officeDocument/2006/relationships" id="2147483656" r:id="R2de92497c6504ae3"/>
    <p:sldLayoutId xmlns:r="http://schemas.openxmlformats.org/officeDocument/2006/relationships" id="2147483657" r:id="R400d869659954711"/>
    <p:sldLayoutId xmlns:r="http://schemas.openxmlformats.org/officeDocument/2006/relationships" id="2147483658" r:id="Rcca94562654c4a1e"/>
    <p:sldLayoutId xmlns:r="http://schemas.openxmlformats.org/officeDocument/2006/relationships" id="2147483659" r:id="R65bdcd31f9f34d12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f1363d9185456b" /><Relationship Type="http://schemas.openxmlformats.org/officeDocument/2006/relationships/notesSlide" Target="/ppt/notesSlides/notesSlide1.xml" Id="R04d62b2c592b42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718a7291674934" /><Relationship Type="http://schemas.openxmlformats.org/officeDocument/2006/relationships/notesSlide" Target="/ppt/notesSlides/notesSlide2.xml" Id="Rc563f6777dff4d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2852a36fc3468b" /><Relationship Type="http://schemas.openxmlformats.org/officeDocument/2006/relationships/notesSlide" Target="/ppt/notesSlides/notesSlide3.xml" Id="Rb8f299981d4244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579707fd954a52" /><Relationship Type="http://schemas.openxmlformats.org/officeDocument/2006/relationships/notesSlide" Target="/ppt/notesSlides/notesSlide4.xml" Id="Rf3ca4c19039145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1e8943c8964045" /><Relationship Type="http://schemas.openxmlformats.org/officeDocument/2006/relationships/image" Target="/ppt/media/image.jpeg" Id="Ra78b25a559c24a0a" /><Relationship Type="http://schemas.openxmlformats.org/officeDocument/2006/relationships/image" Target="/ppt/media/image2.jpeg" Id="R21d2fd97ee814f93" /><Relationship Type="http://schemas.openxmlformats.org/officeDocument/2006/relationships/image" Target="/ppt/media/image3.jpeg" Id="Rc976c5020e3d40e9" /><Relationship Type="http://schemas.openxmlformats.org/officeDocument/2006/relationships/image" Target="/ppt/media/image4.jpeg" Id="Rba6cfa5cbc1b488e" /><Relationship Type="http://schemas.openxmlformats.org/officeDocument/2006/relationships/notesSlide" Target="/ppt/notesSlides/notesSlide5.xml" Id="Re65110c10ea34e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464d22d87c4310" /><Relationship Type="http://schemas.openxmlformats.org/officeDocument/2006/relationships/notesSlide" Target="/ppt/notesSlides/notesSlide6.xml" Id="R8a70a3ada00e4c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GradeSense | Honeywell Hackathon Final Submission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  <p:sp>
        <p:nvSpPr>
          <p:cNvPr id="6" name="Subtitle 3">
            <a:extLst xmlns:a="http://schemas.openxmlformats.org/drawingml/2006/main"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369" y="-365784"/>
            <a:ext cx="8534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marL="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  <a:lvl2pPr marL="4572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2pPr>
            <a:lvl3pPr marL="9144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3pPr>
            <a:lvl4pPr marL="13716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4pPr>
            <a:lvl5pPr marL="18288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5pPr>
            <a:lvl6pPr marL="22860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/>
            </a:r>
          </a:p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GRADESENSE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74" y="1203454"/>
            <a:ext cx="5924550" cy="46866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Explainable AI for safer, faster paper grade transitions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Honeywell Hackathon Final Submission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Industrial AI | Software Prototype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GradeSense 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3DD50-A882-4D01-8BED-4C2C4F5B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4667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1E753-F81C-41BF-965A-6D5F4B53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52625"/>
            <a:ext cx="3905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60728-1758-41E3-9842-1D5D9654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838" y="2524125"/>
            <a:ext cx="285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FDB22-C148-42D9-9358-FDA7B4CA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34450" y="2876550"/>
            <a:ext cx="1333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456DD-837D-48D9-86A8-BC6B495C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0375"/>
            <a:ext cx="3905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7E8E7-A127-48C8-AA2D-F5670583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838" y="3571875"/>
            <a:ext cx="285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8C6EF-D732-4244-BDFA-557BF596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34450" y="3924300"/>
            <a:ext cx="1333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D16A6-9F9D-4839-9E8A-877EFEC5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48125"/>
            <a:ext cx="3905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8259F-66C1-49F0-9806-F3E9E8F4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863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Human-in-the-loop • Constraint-aware • Real-time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8989C0A6-15B8-4092-B0A6-C9CED7D2AA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75" y="114300"/>
            <a:ext cx="109728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PREDICT BEFORE QUALITY DRIFTS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CB6430F0-4156-448D-AECD-DDDBE505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64921"/>
            <a:ext cx="12191999" cy="249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094265-58AF-4E3B-A05B-13D267AD81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rPr b="1">
                <a:solidFill>
                  <a:schemeClr val="bg1"/>
                </a:solidFill>
              </a:rPr>
              <a:t>2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70A572E-FA37-4267-B369-1729BAB6E5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GradeSense | Honeywell Hackathon Final Submission</a:t>
            </a:r>
          </a:p>
        </p:txBody>
      </p:sp>
      <p:sp>
        <p:nvSpPr>
          <p:cNvPr id="15363" name="">
            <a:extLst xmlns:a="http://schemas.openxmlformats.org/drawingml/2006/main">
              <a:ext uri="{FF2B5EF4-FFF2-40B4-BE49-F238E27FC236}">
                <a16:creationId xmlns:a16="http://schemas.microsoft.com/office/drawing/2014/main" id="{B8776507-9725-46D9-AF95-D6BFDB38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64" name="">
            <a:extLst xmlns:a="http://schemas.openxmlformats.org/drawingml/2006/main">
              <a:ext uri="{FF2B5EF4-FFF2-40B4-BE49-F238E27FC236}">
                <a16:creationId xmlns:a16="http://schemas.microsoft.com/office/drawing/2014/main" id="{B5DF5C8D-E653-4E31-BDF6-5C79A3E4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333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15365" name="">
            <a:extLst xmlns:a="http://schemas.openxmlformats.org/drawingml/2006/main">
              <a:ext uri="{FF2B5EF4-FFF2-40B4-BE49-F238E27FC236}">
                <a16:creationId xmlns:a16="http://schemas.microsoft.com/office/drawing/2014/main" id="{7B325945-1F29-46BE-A39F-3902F549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81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Grade transitions are multivariable, time-dependent, and costly when deviation is detected late.</a:t>
            </a:r>
          </a:p>
        </p:txBody>
      </p:sp>
      <p:sp>
        <p:nvSpPr>
          <p:cNvPr id="15366" name="">
            <a:extLst xmlns:a="http://schemas.openxmlformats.org/drawingml/2006/main">
              <a:ext uri="{FF2B5EF4-FFF2-40B4-BE49-F238E27FC236}">
                <a16:creationId xmlns:a16="http://schemas.microsoft.com/office/drawing/2014/main" id="{1B5F2097-2BF1-471C-A0C7-62516183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3810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Operators must connect changing sensor values, future basis-weight behavior, safety constraints, and past outcomes under time pressure.</a:t>
            </a:r>
          </a:p>
        </p:txBody>
      </p:sp>
      <p:sp>
        <p:nvSpPr>
          <p:cNvPr id="15367" name="">
            <a:extLst xmlns:a="http://schemas.openxmlformats.org/drawingml/2006/main">
              <a:ext uri="{FF2B5EF4-FFF2-40B4-BE49-F238E27FC236}">
                <a16:creationId xmlns:a16="http://schemas.microsoft.com/office/drawing/2014/main" id="{38403C6E-82A4-4DAA-952E-64686DC5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600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THE GRADE SENSE LOOP</a:t>
            </a:r>
          </a:p>
        </p:txBody>
      </p:sp>
      <p:sp>
        <p:nvSpPr>
          <p:cNvPr id="15368" name="">
            <a:extLst xmlns:a="http://schemas.openxmlformats.org/drawingml/2006/main">
              <a:ext uri="{FF2B5EF4-FFF2-40B4-BE49-F238E27FC236}">
                <a16:creationId xmlns:a16="http://schemas.microsoft.com/office/drawing/2014/main" id="{3A879F2E-482A-44D1-8ACD-20DC4FB2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90763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69" name="">
            <a:extLst xmlns:a="http://schemas.openxmlformats.org/drawingml/2006/main">
              <a:ext uri="{FF2B5EF4-FFF2-40B4-BE49-F238E27FC236}">
                <a16:creationId xmlns:a16="http://schemas.microsoft.com/office/drawing/2014/main" id="{E31A9B20-D58D-44F4-BC1A-9EE597DC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2383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70" name="">
            <a:extLst xmlns:a="http://schemas.openxmlformats.org/drawingml/2006/main">
              <a:ext uri="{FF2B5EF4-FFF2-40B4-BE49-F238E27FC236}">
                <a16:creationId xmlns:a16="http://schemas.microsoft.com/office/drawing/2014/main" id="{603A3F3B-AD5B-4167-956A-039FDEB6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90763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71" name="">
            <a:extLst xmlns:a="http://schemas.openxmlformats.org/drawingml/2006/main">
              <a:ext uri="{FF2B5EF4-FFF2-40B4-BE49-F238E27FC236}">
                <a16:creationId xmlns:a16="http://schemas.microsoft.com/office/drawing/2014/main" id="{7A8A0DCD-2469-452F-8960-FE33AD72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2383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72" name="">
            <a:extLst xmlns:a="http://schemas.openxmlformats.org/drawingml/2006/main">
              <a:ext uri="{FF2B5EF4-FFF2-40B4-BE49-F238E27FC236}">
                <a16:creationId xmlns:a16="http://schemas.microsoft.com/office/drawing/2014/main" id="{DE39DF38-A45C-44B7-B544-DC6C10B5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57375"/>
            <a:ext cx="13811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373" name="">
            <a:extLst xmlns:a="http://schemas.openxmlformats.org/drawingml/2006/main">
              <a:ext uri="{FF2B5EF4-FFF2-40B4-BE49-F238E27FC236}">
                <a16:creationId xmlns:a16="http://schemas.microsoft.com/office/drawing/2014/main" id="{F5BFDD22-7237-400A-8EBD-9A2F97D9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57375"/>
            <a:ext cx="66675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74" name="">
            <a:extLst xmlns:a="http://schemas.openxmlformats.org/drawingml/2006/main">
              <a:ext uri="{FF2B5EF4-FFF2-40B4-BE49-F238E27FC236}">
                <a16:creationId xmlns:a16="http://schemas.microsoft.com/office/drawing/2014/main" id="{7E68E1C2-24E8-410F-93A8-2E583CE3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943100"/>
            <a:ext cx="1133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Sense</a:t>
            </a:r>
          </a:p>
        </p:txBody>
      </p:sp>
      <p:sp>
        <p:nvSpPr>
          <p:cNvPr id="15375" name="">
            <a:extLst xmlns:a="http://schemas.openxmlformats.org/drawingml/2006/main">
              <a:ext uri="{FF2B5EF4-FFF2-40B4-BE49-F238E27FC236}">
                <a16:creationId xmlns:a16="http://schemas.microsoft.com/office/drawing/2014/main" id="{1DC26903-FD4C-4534-804E-F1CFAFD3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219325"/>
            <a:ext cx="11334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Live process state</a:t>
            </a:r>
          </a:p>
        </p:txBody>
      </p:sp>
      <p:sp>
        <p:nvSpPr>
          <p:cNvPr id="15376" name="">
            <a:extLst xmlns:a="http://schemas.openxmlformats.org/drawingml/2006/main">
              <a:ext uri="{FF2B5EF4-FFF2-40B4-BE49-F238E27FC236}">
                <a16:creationId xmlns:a16="http://schemas.microsoft.com/office/drawing/2014/main" id="{8FFF8C90-DC72-4A39-B9D2-CF5B49EB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57375"/>
            <a:ext cx="13811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377" name="">
            <a:extLst xmlns:a="http://schemas.openxmlformats.org/drawingml/2006/main">
              <a:ext uri="{FF2B5EF4-FFF2-40B4-BE49-F238E27FC236}">
                <a16:creationId xmlns:a16="http://schemas.microsoft.com/office/drawing/2014/main" id="{6B5DBF5E-7AF9-4533-B01E-B493B207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57375"/>
            <a:ext cx="66675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78" name="">
            <a:extLst xmlns:a="http://schemas.openxmlformats.org/drawingml/2006/main">
              <a:ext uri="{FF2B5EF4-FFF2-40B4-BE49-F238E27FC236}">
                <a16:creationId xmlns:a16="http://schemas.microsoft.com/office/drawing/2014/main" id="{28866587-15FE-444C-867E-0FF88823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43100"/>
            <a:ext cx="1133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5379" name="">
            <a:extLst xmlns:a="http://schemas.openxmlformats.org/drawingml/2006/main">
              <a:ext uri="{FF2B5EF4-FFF2-40B4-BE49-F238E27FC236}">
                <a16:creationId xmlns:a16="http://schemas.microsoft.com/office/drawing/2014/main" id="{8B3CAD65-4E4A-44F7-896F-F6745F5F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19325"/>
            <a:ext cx="11334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Quality, risk, time</a:t>
            </a:r>
          </a:p>
        </p:txBody>
      </p:sp>
      <p:sp>
        <p:nvSpPr>
          <p:cNvPr id="15380" name="">
            <a:extLst xmlns:a="http://schemas.openxmlformats.org/drawingml/2006/main">
              <a:ext uri="{FF2B5EF4-FFF2-40B4-BE49-F238E27FC236}">
                <a16:creationId xmlns:a16="http://schemas.microsoft.com/office/drawing/2014/main" id="{3BAB3EE9-2E3A-4298-A07E-0F42B94D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57375"/>
            <a:ext cx="1524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381" name="">
            <a:extLst xmlns:a="http://schemas.openxmlformats.org/drawingml/2006/main">
              <a:ext uri="{FF2B5EF4-FFF2-40B4-BE49-F238E27FC236}">
                <a16:creationId xmlns:a16="http://schemas.microsoft.com/office/drawing/2014/main" id="{E6028CF0-EEA1-4960-AF67-F211F6BB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57375"/>
            <a:ext cx="66675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82" name="">
            <a:extLst xmlns:a="http://schemas.openxmlformats.org/drawingml/2006/main">
              <a:ext uri="{FF2B5EF4-FFF2-40B4-BE49-F238E27FC236}">
                <a16:creationId xmlns:a16="http://schemas.microsoft.com/office/drawing/2014/main" id="{46A28C80-1E98-4806-B0F0-971E1FAE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9431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15383" name="">
            <a:extLst xmlns:a="http://schemas.openxmlformats.org/drawingml/2006/main">
              <a:ext uri="{FF2B5EF4-FFF2-40B4-BE49-F238E27FC236}">
                <a16:creationId xmlns:a16="http://schemas.microsoft.com/office/drawing/2014/main" id="{D4D3A425-8D9B-4580-BB46-5267DE44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219325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Safe ranked guidance</a:t>
            </a:r>
          </a:p>
        </p:txBody>
      </p:sp>
      <p:sp>
        <p:nvSpPr>
          <p:cNvPr id="15384" name="">
            <a:extLst xmlns:a="http://schemas.openxmlformats.org/drawingml/2006/main">
              <a:ext uri="{FF2B5EF4-FFF2-40B4-BE49-F238E27FC236}">
                <a16:creationId xmlns:a16="http://schemas.microsoft.com/office/drawing/2014/main" id="{A31A6934-6945-4BC6-97D4-E5F90599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338" y="3000375"/>
            <a:ext cx="285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85" name="">
            <a:extLst xmlns:a="http://schemas.openxmlformats.org/drawingml/2006/main">
              <a:ext uri="{FF2B5EF4-FFF2-40B4-BE49-F238E27FC236}">
                <a16:creationId xmlns:a16="http://schemas.microsoft.com/office/drawing/2014/main" id="{50ACD3B5-3EAB-493D-99AE-BC7294AE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67950" y="3543300"/>
            <a:ext cx="1333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86" name="">
            <a:extLst xmlns:a="http://schemas.openxmlformats.org/drawingml/2006/main">
              <a:ext uri="{FF2B5EF4-FFF2-40B4-BE49-F238E27FC236}">
                <a16:creationId xmlns:a16="http://schemas.microsoft.com/office/drawing/2014/main" id="{0806ECC6-026F-49A8-A1AF-FE9E50F8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81463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87" name="">
            <a:extLst xmlns:a="http://schemas.openxmlformats.org/drawingml/2006/main">
              <a:ext uri="{FF2B5EF4-FFF2-40B4-BE49-F238E27FC236}">
                <a16:creationId xmlns:a16="http://schemas.microsoft.com/office/drawing/2014/main" id="{A5C77BA1-23E8-4CFD-8EE1-F6BB9C6A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29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88" name="">
            <a:extLst xmlns:a="http://schemas.openxmlformats.org/drawingml/2006/main">
              <a:ext uri="{FF2B5EF4-FFF2-40B4-BE49-F238E27FC236}">
                <a16:creationId xmlns:a16="http://schemas.microsoft.com/office/drawing/2014/main" id="{B03DD860-B3B7-4E4A-826F-1FBB8F4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81463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89" name="">
            <a:extLst xmlns:a="http://schemas.openxmlformats.org/drawingml/2006/main">
              <a:ext uri="{FF2B5EF4-FFF2-40B4-BE49-F238E27FC236}">
                <a16:creationId xmlns:a16="http://schemas.microsoft.com/office/drawing/2014/main" id="{9A2E48BC-BA59-43DD-8F0C-537656C7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29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90" name="">
            <a:extLst xmlns:a="http://schemas.openxmlformats.org/drawingml/2006/main">
              <a:ext uri="{FF2B5EF4-FFF2-40B4-BE49-F238E27FC236}">
                <a16:creationId xmlns:a16="http://schemas.microsoft.com/office/drawing/2014/main" id="{848879AC-02E2-4F9D-AB48-7D27637D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38550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391" name="">
            <a:extLst xmlns:a="http://schemas.openxmlformats.org/drawingml/2006/main">
              <a:ext uri="{FF2B5EF4-FFF2-40B4-BE49-F238E27FC236}">
                <a16:creationId xmlns:a16="http://schemas.microsoft.com/office/drawing/2014/main" id="{A2BCE200-826F-4346-BB7B-04D33009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38550"/>
            <a:ext cx="66675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92" name="">
            <a:extLst xmlns:a="http://schemas.openxmlformats.org/drawingml/2006/main">
              <a:ext uri="{FF2B5EF4-FFF2-40B4-BE49-F238E27FC236}">
                <a16:creationId xmlns:a16="http://schemas.microsoft.com/office/drawing/2014/main" id="{83877725-22BF-49FB-9BFE-688FD520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724275"/>
            <a:ext cx="1228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15393" name="">
            <a:extLst xmlns:a="http://schemas.openxmlformats.org/drawingml/2006/main">
              <a:ext uri="{FF2B5EF4-FFF2-40B4-BE49-F238E27FC236}">
                <a16:creationId xmlns:a16="http://schemas.microsoft.com/office/drawing/2014/main" id="{BE0EB78A-5C27-4185-946A-7FF1DC5F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00500"/>
            <a:ext cx="12287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Decision + outcome</a:t>
            </a:r>
          </a:p>
        </p:txBody>
      </p:sp>
      <p:sp>
        <p:nvSpPr>
          <p:cNvPr id="15394" name="">
            <a:extLst xmlns:a="http://schemas.openxmlformats.org/drawingml/2006/main">
              <a:ext uri="{FF2B5EF4-FFF2-40B4-BE49-F238E27FC236}">
                <a16:creationId xmlns:a16="http://schemas.microsoft.com/office/drawing/2014/main" id="{DA9231A8-6DAD-47DE-8BF2-019EC6FA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38550"/>
            <a:ext cx="13811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395" name="">
            <a:extLst xmlns:a="http://schemas.openxmlformats.org/drawingml/2006/main">
              <a:ext uri="{FF2B5EF4-FFF2-40B4-BE49-F238E27FC236}">
                <a16:creationId xmlns:a16="http://schemas.microsoft.com/office/drawing/2014/main" id="{30965745-A8D7-4D2F-A9CE-E214B1C2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38550"/>
            <a:ext cx="66675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96" name="">
            <a:extLst xmlns:a="http://schemas.openxmlformats.org/drawingml/2006/main">
              <a:ext uri="{FF2B5EF4-FFF2-40B4-BE49-F238E27FC236}">
                <a16:creationId xmlns:a16="http://schemas.microsoft.com/office/drawing/2014/main" id="{1303CAD5-92BE-41A5-8D6C-F97C21E7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24275"/>
            <a:ext cx="1133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5397" name="">
            <a:extLst xmlns:a="http://schemas.openxmlformats.org/drawingml/2006/main">
              <a:ext uri="{FF2B5EF4-FFF2-40B4-BE49-F238E27FC236}">
                <a16:creationId xmlns:a16="http://schemas.microsoft.com/office/drawing/2014/main" id="{3F7C0064-FE69-4BEF-974A-DE47D9B5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00500"/>
            <a:ext cx="11334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Drivers + confidence</a:t>
            </a:r>
          </a:p>
        </p:txBody>
      </p:sp>
      <p:sp>
        <p:nvSpPr>
          <p:cNvPr id="15398" name="">
            <a:extLst xmlns:a="http://schemas.openxmlformats.org/drawingml/2006/main">
              <a:ext uri="{FF2B5EF4-FFF2-40B4-BE49-F238E27FC236}">
                <a16:creationId xmlns:a16="http://schemas.microsoft.com/office/drawing/2014/main" id="{5B41ACC1-03EA-4F22-BD69-CA0E059C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38550"/>
            <a:ext cx="1524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399" name="">
            <a:extLst xmlns:a="http://schemas.openxmlformats.org/drawingml/2006/main">
              <a:ext uri="{FF2B5EF4-FFF2-40B4-BE49-F238E27FC236}">
                <a16:creationId xmlns:a16="http://schemas.microsoft.com/office/drawing/2014/main" id="{E9F74A8E-B7E5-416F-A5F7-7C124A4E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38550"/>
            <a:ext cx="66675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00" name="">
            <a:extLst xmlns:a="http://schemas.openxmlformats.org/drawingml/2006/main">
              <a:ext uri="{FF2B5EF4-FFF2-40B4-BE49-F238E27FC236}">
                <a16:creationId xmlns:a16="http://schemas.microsoft.com/office/drawing/2014/main" id="{65727EBD-CB1D-4E2F-ABFC-D729F59F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724275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Simulate</a:t>
            </a:r>
          </a:p>
        </p:txBody>
      </p:sp>
      <p:sp>
        <p:nvSpPr>
          <p:cNvPr id="15401" name="">
            <a:extLst xmlns:a="http://schemas.openxmlformats.org/drawingml/2006/main">
              <a:ext uri="{FF2B5EF4-FFF2-40B4-BE49-F238E27FC236}">
                <a16:creationId xmlns:a16="http://schemas.microsoft.com/office/drawing/2014/main" id="{298A2156-72D9-4714-B64B-94589E19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00050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Forecast under action</a:t>
            </a:r>
          </a:p>
        </p:txBody>
      </p:sp>
      <p:sp>
        <p:nvSpPr>
          <p:cNvPr id="15402" name="">
            <a:extLst xmlns:a="http://schemas.openxmlformats.org/drawingml/2006/main">
              <a:ext uri="{FF2B5EF4-FFF2-40B4-BE49-F238E27FC236}">
                <a16:creationId xmlns:a16="http://schemas.microsoft.com/office/drawing/2014/main" id="{D363570D-54BC-41A6-BF33-8E6E0985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57750"/>
            <a:ext cx="600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One governed system connects detection, explanation, intervention, and measurable learning.</a:t>
            </a:r>
          </a:p>
        </p:txBody>
      </p:sp>
    </p:spTree>
    <p:extLst>
      <p:ext uri="{BB962C8B-B14F-4D97-AF65-F5344CB8AC3E}">
        <p14:creationId xmlns:p14="http://schemas.microsoft.com/office/powerpoint/2010/main" val="9083645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08417784-0E02-44F5-9378-88C807C538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75" y="114300"/>
            <a:ext cx="109728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PRODUCTION-READY AI ARCHITECTURE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0DB7F155-0F60-4741-AF98-664B8CE1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81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4DFFD6A-94ED-48D8-BF28-734172A6DC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 b="1">
                <a:solidFill>
                  <a:schemeClr val="bg1"/>
                </a:solidFill>
              </a:rPr>
              <a:t>3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72C87E8-4F26-4C1A-A6D7-EADBB7BE0D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GradeSense | Honeywell Hackathon Final Submission</a:t>
            </a:r>
          </a:p>
        </p:txBody>
      </p:sp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CFD0AC84-7E17-4B42-99D4-664BC5A6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5135E1C6-9AE9-4358-A097-94BC6FDA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B68AEC45-F8BB-445F-A973-A90C5567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66963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C2A5FC8D-E2F8-4B01-91B3-421645A6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145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834CE103-477B-4F80-8C70-25AF17AB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66963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BC8D65DE-BA13-497D-A6D9-9CF8B4D4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145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95C3E5C0-329E-478F-B94C-FB284116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66963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847289FD-4F4C-4D03-B065-4AED9074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145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7CAD3786-92B3-439D-8BCA-74F00558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2047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DE7614FC-53EE-4F29-8CB7-C61C2FA2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F37080D2-9DA9-4D88-B5BC-B68E8F4D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1800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 UI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69A98B6B-C40F-42A4-9097-6A4ADADA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18002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Operations + governance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972A3AC2-FA6C-48A8-8323-588C8DC5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57375"/>
            <a:ext cx="2047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5194EE47-8E25-42DC-8D54-329AD0C8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57375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A66295EE-75A2-4381-80AD-C40F7155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43100"/>
            <a:ext cx="1800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5B380EBF-1B8C-4603-859D-3DFD7007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19325"/>
            <a:ext cx="18002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REST + WebSocket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A5495470-FEA2-4D2C-B1D1-88482ACE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2047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0EE9951C-2AC1-4BEE-BA40-246EE87B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4D188C87-FDB1-4EC3-97A3-6D318735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1800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Domain services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2A6FD254-FE8A-4A86-A5F0-A3D157B0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19325"/>
            <a:ext cx="18002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Inference + intervention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30A3E9B0-2DCC-42E2-A156-63F6534F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57375"/>
            <a:ext cx="2143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AAF69B15-760E-4491-9A76-CEB8644E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57375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63EB64A6-524E-4676-8C8B-38FBFD09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43100"/>
            <a:ext cx="1895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SQL + artifacts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9D96C07F-37A1-414A-803E-97C1B188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19325"/>
            <a:ext cx="18954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History + immutable models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26688D78-A61E-47F2-B501-A7CAC588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AI WORKFLOW</a:t>
            </a:r>
          </a:p>
        </p:txBody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635833AB-7576-4BC5-92BB-6B11763E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48163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DF6F523F-F2C9-4356-BB33-1CE950B9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957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4327EE22-E900-4B15-A3BF-CA833A2D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771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CC4D40A2-B214-4C6E-9922-566A3DAE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669A5B17-B05A-497F-AC3F-7AAEE3C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219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7441" name="">
            <a:extLst xmlns:a="http://schemas.openxmlformats.org/drawingml/2006/main">
              <a:ext uri="{FF2B5EF4-FFF2-40B4-BE49-F238E27FC236}">
                <a16:creationId xmlns:a16="http://schemas.microsoft.com/office/drawing/2014/main" id="{F1EB74C5-1C3A-4E38-9371-B28D8E40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Typed process state</a:t>
            </a:r>
          </a:p>
        </p:txBody>
      </p:sp>
      <p:sp>
        <p:nvSpPr>
          <p:cNvPr id="17442" name="">
            <a:extLst xmlns:a="http://schemas.openxmlformats.org/drawingml/2006/main">
              <a:ext uri="{FF2B5EF4-FFF2-40B4-BE49-F238E27FC236}">
                <a16:creationId xmlns:a16="http://schemas.microsoft.com/office/drawing/2014/main" id="{AA3B795E-AB5E-4D3B-9484-0D4DE8AB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48163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43" name="">
            <a:extLst xmlns:a="http://schemas.openxmlformats.org/drawingml/2006/main">
              <a:ext uri="{FF2B5EF4-FFF2-40B4-BE49-F238E27FC236}">
                <a16:creationId xmlns:a16="http://schemas.microsoft.com/office/drawing/2014/main" id="{8603FF1C-19F3-4846-A3B3-4A75117F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957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44" name="">
            <a:extLst xmlns:a="http://schemas.openxmlformats.org/drawingml/2006/main">
              <a:ext uri="{FF2B5EF4-FFF2-40B4-BE49-F238E27FC236}">
                <a16:creationId xmlns:a16="http://schemas.microsoft.com/office/drawing/2014/main" id="{1A82B75C-5AEB-4337-85D6-00E4258E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62375"/>
            <a:ext cx="1771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45" name="">
            <a:extLst xmlns:a="http://schemas.openxmlformats.org/drawingml/2006/main">
              <a:ext uri="{FF2B5EF4-FFF2-40B4-BE49-F238E27FC236}">
                <a16:creationId xmlns:a16="http://schemas.microsoft.com/office/drawing/2014/main" id="{B36EEB68-B1DA-40B0-AA04-90B3049C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57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446" name="">
            <a:extLst xmlns:a="http://schemas.openxmlformats.org/drawingml/2006/main">
              <a:ext uri="{FF2B5EF4-FFF2-40B4-BE49-F238E27FC236}">
                <a16:creationId xmlns:a16="http://schemas.microsoft.com/office/drawing/2014/main" id="{D39AA5EA-6417-4A74-8EB6-D3E1CC85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67150"/>
            <a:ext cx="1219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Forecast</a:t>
            </a:r>
          </a:p>
        </p:txBody>
      </p:sp>
      <p:sp>
        <p:nvSpPr>
          <p:cNvPr id="17447" name="">
            <a:extLst xmlns:a="http://schemas.openxmlformats.org/drawingml/2006/main">
              <a:ext uri="{FF2B5EF4-FFF2-40B4-BE49-F238E27FC236}">
                <a16:creationId xmlns:a16="http://schemas.microsoft.com/office/drawing/2014/main" id="{67E3D582-5F23-4289-AC0E-5245DB18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148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Direct horizon</a:t>
            </a:r>
          </a:p>
        </p:txBody>
      </p:sp>
      <p:sp>
        <p:nvSpPr>
          <p:cNvPr id="17448" name="">
            <a:extLst xmlns:a="http://schemas.openxmlformats.org/drawingml/2006/main">
              <a:ext uri="{FF2B5EF4-FFF2-40B4-BE49-F238E27FC236}">
                <a16:creationId xmlns:a16="http://schemas.microsoft.com/office/drawing/2014/main" id="{5B71AFF9-92A4-4258-8BB7-7E6506C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48163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49" name="">
            <a:extLst xmlns:a="http://schemas.openxmlformats.org/drawingml/2006/main">
              <a:ext uri="{FF2B5EF4-FFF2-40B4-BE49-F238E27FC236}">
                <a16:creationId xmlns:a16="http://schemas.microsoft.com/office/drawing/2014/main" id="{0F142F9A-04F3-4D28-BA6C-46035E6C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957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50" name="">
            <a:extLst xmlns:a="http://schemas.openxmlformats.org/drawingml/2006/main">
              <a:ext uri="{FF2B5EF4-FFF2-40B4-BE49-F238E27FC236}">
                <a16:creationId xmlns:a16="http://schemas.microsoft.com/office/drawing/2014/main" id="{185C2B80-CD88-4F9C-AFE3-D057461B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62375"/>
            <a:ext cx="1771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51" name="">
            <a:extLst xmlns:a="http://schemas.openxmlformats.org/drawingml/2006/main">
              <a:ext uri="{FF2B5EF4-FFF2-40B4-BE49-F238E27FC236}">
                <a16:creationId xmlns:a16="http://schemas.microsoft.com/office/drawing/2014/main" id="{0BD27F4B-EB92-4F08-9AB1-441990B1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57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452" name="">
            <a:extLst xmlns:a="http://schemas.openxmlformats.org/drawingml/2006/main">
              <a:ext uri="{FF2B5EF4-FFF2-40B4-BE49-F238E27FC236}">
                <a16:creationId xmlns:a16="http://schemas.microsoft.com/office/drawing/2014/main" id="{B8941596-392C-4F17-B37C-670C200B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67150"/>
            <a:ext cx="1219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7453" name="">
            <a:extLst xmlns:a="http://schemas.openxmlformats.org/drawingml/2006/main">
              <a:ext uri="{FF2B5EF4-FFF2-40B4-BE49-F238E27FC236}">
                <a16:creationId xmlns:a16="http://schemas.microsoft.com/office/drawing/2014/main" id="{5BC241E6-7612-4BB5-8948-F74CC584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148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Drivers + confidence</a:t>
            </a:r>
          </a:p>
        </p:txBody>
      </p:sp>
      <p:sp>
        <p:nvSpPr>
          <p:cNvPr id="17454" name="">
            <a:extLst xmlns:a="http://schemas.openxmlformats.org/drawingml/2006/main">
              <a:ext uri="{FF2B5EF4-FFF2-40B4-BE49-F238E27FC236}">
                <a16:creationId xmlns:a16="http://schemas.microsoft.com/office/drawing/2014/main" id="{51D8C435-F87D-4DD1-A63E-B56C4148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48163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55" name="">
            <a:extLst xmlns:a="http://schemas.openxmlformats.org/drawingml/2006/main">
              <a:ext uri="{FF2B5EF4-FFF2-40B4-BE49-F238E27FC236}">
                <a16:creationId xmlns:a16="http://schemas.microsoft.com/office/drawing/2014/main" id="{C0ED6DB2-762F-423A-9162-C355793B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957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56" name="">
            <a:extLst xmlns:a="http://schemas.openxmlformats.org/drawingml/2006/main">
              <a:ext uri="{FF2B5EF4-FFF2-40B4-BE49-F238E27FC236}">
                <a16:creationId xmlns:a16="http://schemas.microsoft.com/office/drawing/2014/main" id="{7B692604-38BD-4A8E-A093-309B7756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1771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57" name="">
            <a:extLst xmlns:a="http://schemas.openxmlformats.org/drawingml/2006/main">
              <a:ext uri="{FF2B5EF4-FFF2-40B4-BE49-F238E27FC236}">
                <a16:creationId xmlns:a16="http://schemas.microsoft.com/office/drawing/2014/main" id="{6E581C7E-C369-4AE6-97DD-4A99DABB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57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458" name="">
            <a:extLst xmlns:a="http://schemas.openxmlformats.org/drawingml/2006/main">
              <a:ext uri="{FF2B5EF4-FFF2-40B4-BE49-F238E27FC236}">
                <a16:creationId xmlns:a16="http://schemas.microsoft.com/office/drawing/2014/main" id="{FD6C0A1D-71AA-4AC9-999E-433ECBC2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67150"/>
            <a:ext cx="1219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Constrain</a:t>
            </a:r>
          </a:p>
        </p:txBody>
      </p:sp>
      <p:sp>
        <p:nvSpPr>
          <p:cNvPr id="17459" name="">
            <a:extLst xmlns:a="http://schemas.openxmlformats.org/drawingml/2006/main">
              <a:ext uri="{FF2B5EF4-FFF2-40B4-BE49-F238E27FC236}">
                <a16:creationId xmlns:a16="http://schemas.microsoft.com/office/drawing/2014/main" id="{8E413B4F-03F5-4980-9F68-FAB13FD0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148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Safety gate</a:t>
            </a:r>
          </a:p>
        </p:txBody>
      </p:sp>
      <p:sp>
        <p:nvSpPr>
          <p:cNvPr id="17460" name="">
            <a:extLst xmlns:a="http://schemas.openxmlformats.org/drawingml/2006/main">
              <a:ext uri="{FF2B5EF4-FFF2-40B4-BE49-F238E27FC236}">
                <a16:creationId xmlns:a16="http://schemas.microsoft.com/office/drawing/2014/main" id="{07D7652E-F688-4F83-B1F2-20E687B5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62375"/>
            <a:ext cx="1771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7461" name="">
            <a:extLst xmlns:a="http://schemas.openxmlformats.org/drawingml/2006/main">
              <a:ext uri="{FF2B5EF4-FFF2-40B4-BE49-F238E27FC236}">
                <a16:creationId xmlns:a16="http://schemas.microsoft.com/office/drawing/2014/main" id="{72C7D7B5-CBB6-431F-A085-E78ADE29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57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462" name="">
            <a:extLst xmlns:a="http://schemas.openxmlformats.org/drawingml/2006/main">
              <a:ext uri="{FF2B5EF4-FFF2-40B4-BE49-F238E27FC236}">
                <a16:creationId xmlns:a16="http://schemas.microsoft.com/office/drawing/2014/main" id="{80E7B8B9-4DF4-4541-A4A2-7C969E46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67150"/>
            <a:ext cx="1219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</a:t>
            </a:r>
          </a:p>
        </p:txBody>
      </p:sp>
      <p:sp>
        <p:nvSpPr>
          <p:cNvPr id="17463" name="">
            <a:extLst xmlns:a="http://schemas.openxmlformats.org/drawingml/2006/main">
              <a:ext uri="{FF2B5EF4-FFF2-40B4-BE49-F238E27FC236}">
                <a16:creationId xmlns:a16="http://schemas.microsoft.com/office/drawing/2014/main" id="{5ED8F61A-BF34-48A8-A07A-4EC6AC5E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148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Ranked benefit</a:t>
            </a:r>
          </a:p>
        </p:txBody>
      </p:sp>
      <p:sp>
        <p:nvSpPr>
          <p:cNvPr id="17464" name="">
            <a:extLst xmlns:a="http://schemas.openxmlformats.org/drawingml/2006/main">
              <a:ext uri="{FF2B5EF4-FFF2-40B4-BE49-F238E27FC236}">
                <a16:creationId xmlns:a16="http://schemas.microsoft.com/office/drawing/2014/main" id="{D9078A63-24C8-40A0-A76D-9274A2E2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Python • FastAPI • SQLAlchemy • scikit-learn • React • TypeScript • PostgreSQL • Docker</a:t>
            </a:r>
          </a:p>
        </p:txBody>
      </p:sp>
    </p:spTree>
    <p:extLst>
      <p:ext uri="{BB962C8B-B14F-4D97-AF65-F5344CB8AC3E}">
        <p14:creationId xmlns:p14="http://schemas.microsoft.com/office/powerpoint/2010/main" val="4095457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DF0DF0F-DC13-4277-A4FB-0C5D02A473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75" y="114300"/>
            <a:ext cx="109728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EXPLAINABILITY, SAFETY, AND OUTCOMES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B6253D7F-A5AD-47FB-A87B-50A2CC08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8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70034A-232D-4D25-A507-0A54242E11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FD6AB9A-5F9E-5F59-51AB-3C8734130965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614EC5D-C07E-4AA7-A55A-491B1889DD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GradeSense | Honeywell Hackathon Final Submission</a:t>
            </a:r>
          </a:p>
        </p:txBody>
      </p:sp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D3DE4CC3-AD5A-4607-95CE-282EE5C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F31C59E5-9C63-438B-B309-B0C4252E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90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EXPLAINABLE AI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6FCEBC89-2F62-4EED-91D1-13E5E476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143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1840659C-682D-4C62-9609-1E988687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2714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Why did risk change?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3762684B-249E-47DB-A8F0-34ED9F00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Moisture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854610F6-43E3-4CF5-8C06-A5464FE9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0985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A3714893-5A39-4255-9B29-2DFF27A1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09850"/>
            <a:ext cx="104013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C6259C35-EEA7-4579-BAB1-2FE0D27F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Steam pressure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998CE165-EDB8-4280-943A-2E41DADE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6230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1FF6D554-B5AF-436E-961F-C0950133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62300"/>
            <a:ext cx="84201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1B9D8C7E-A947-4415-8285-5C94445D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Machine speed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B4DEA959-BEC8-41F4-A728-79B17227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1475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81415C25-1942-440B-A508-7FFE5C6B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14750"/>
            <a:ext cx="64389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A83B4EAA-37B2-4F58-A416-7ADFC19A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2714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Feature direction • model version • confidence • drift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86408042-6593-419F-9DFC-C93E759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381125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RECOMMENDATION ENGINE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7E38D9B4-529C-4B4E-95BD-BD7531AE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43163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B8CAA6AA-47F1-4D73-A4BB-9D6E6700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907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B6414A28-8FA4-4FDD-B0C6-8038776C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43163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62A5E649-D712-4326-9073-6BC774E6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907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FB62201E-2D1D-4769-8BCF-E021C258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104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E94C1814-A8A5-486D-AEB4-5D8B27C0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68122302-126D-4BA3-943F-E1A9F35E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3835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CD38B757-1768-436F-8606-6E4CD8FD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14575"/>
            <a:ext cx="800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1-4 variable actions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8319E0B6-175A-47B6-99D2-EB73E5C9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104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EF0D6965-3439-4329-B897-C0362C58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54EAD713-A717-4BEF-BADB-8093F2DD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0C0656AB-A9C8-4F2C-BCC7-47CB37DD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14575"/>
            <a:ext cx="800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Reject unsafe sets</a:t>
            </a:r>
          </a:p>
        </p:txBody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0A92742B-7CB5-44AA-9B30-DC600946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1190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129DC4D7-23BC-420B-8F32-5B4842E2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B5C62628-793A-4E58-BFD0-80E0D6DC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038350"/>
            <a:ext cx="9429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Simulate</a:t>
            </a:r>
          </a:p>
        </p:txBody>
      </p:sp>
      <p:sp>
        <p:nvSpPr>
          <p:cNvPr id="17441" name="">
            <a:extLst xmlns:a="http://schemas.openxmlformats.org/drawingml/2006/main">
              <a:ext uri="{FF2B5EF4-FFF2-40B4-BE49-F238E27FC236}">
                <a16:creationId xmlns:a16="http://schemas.microsoft.com/office/drawing/2014/main" id="{CA951D2B-A063-42A3-8951-CBDFD912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14575"/>
            <a:ext cx="9429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Compare to baseline</a:t>
            </a:r>
          </a:p>
        </p:txBody>
      </p:sp>
      <p:sp>
        <p:nvSpPr>
          <p:cNvPr id="17442" name="">
            <a:extLst xmlns:a="http://schemas.openxmlformats.org/drawingml/2006/main">
              <a:ext uri="{FF2B5EF4-FFF2-40B4-BE49-F238E27FC236}">
                <a16:creationId xmlns:a16="http://schemas.microsoft.com/office/drawing/2014/main" id="{A3E231EC-6650-45FA-93E9-53F27C1F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4238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Only positive, constraint-valid improvements are ranked for the operator.</a:t>
            </a:r>
          </a:p>
        </p:txBody>
      </p:sp>
      <p:sp>
        <p:nvSpPr>
          <p:cNvPr id="17443" name="">
            <a:extLst xmlns:a="http://schemas.openxmlformats.org/drawingml/2006/main">
              <a:ext uri="{FF2B5EF4-FFF2-40B4-BE49-F238E27FC236}">
                <a16:creationId xmlns:a16="http://schemas.microsoft.com/office/drawing/2014/main" id="{BAA65E27-EA7C-47F7-A9CD-FAAAB100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38112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BUSINESS IMPACT</a:t>
            </a:r>
          </a:p>
        </p:txBody>
      </p:sp>
      <p:sp>
        <p:nvSpPr>
          <p:cNvPr id="17444" name="">
            <a:extLst xmlns:a="http://schemas.openxmlformats.org/drawingml/2006/main">
              <a:ext uri="{FF2B5EF4-FFF2-40B4-BE49-F238E27FC236}">
                <a16:creationId xmlns:a16="http://schemas.microsoft.com/office/drawing/2014/main" id="{842F36BC-A8E5-47BF-BD64-D5BD3672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57375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445" name="">
            <a:extLst xmlns:a="http://schemas.openxmlformats.org/drawingml/2006/main">
              <a:ext uri="{FF2B5EF4-FFF2-40B4-BE49-F238E27FC236}">
                <a16:creationId xmlns:a16="http://schemas.microsoft.com/office/drawing/2014/main" id="{E569CDAA-2988-4D8E-87E2-ECAC5C07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812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EARLIER</a:t>
            </a:r>
          </a:p>
        </p:txBody>
      </p:sp>
      <p:sp>
        <p:nvSpPr>
          <p:cNvPr id="17446" name="">
            <a:extLst xmlns:a="http://schemas.openxmlformats.org/drawingml/2006/main">
              <a:ext uri="{FF2B5EF4-FFF2-40B4-BE49-F238E27FC236}">
                <a16:creationId xmlns:a16="http://schemas.microsoft.com/office/drawing/2014/main" id="{577530C1-5CFB-429D-B486-2309E349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66975"/>
            <a:ext cx="2000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risk detection</a:t>
            </a:r>
          </a:p>
        </p:txBody>
      </p:sp>
      <p:sp>
        <p:nvSpPr>
          <p:cNvPr id="17447" name="">
            <a:extLst xmlns:a="http://schemas.openxmlformats.org/drawingml/2006/main">
              <a:ext uri="{FF2B5EF4-FFF2-40B4-BE49-F238E27FC236}">
                <a16:creationId xmlns:a16="http://schemas.microsoft.com/office/drawing/2014/main" id="{3B405142-4FDB-42B8-8494-2EBECA20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95625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448" name="">
            <a:extLst xmlns:a="http://schemas.openxmlformats.org/drawingml/2006/main">
              <a:ext uri="{FF2B5EF4-FFF2-40B4-BE49-F238E27FC236}">
                <a16:creationId xmlns:a16="http://schemas.microsoft.com/office/drawing/2014/main" id="{433A068C-41F8-4E65-AA1A-5ECD1F77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194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SAFER</a:t>
            </a:r>
          </a:p>
        </p:txBody>
      </p:sp>
      <p:sp>
        <p:nvSpPr>
          <p:cNvPr id="17449" name="">
            <a:extLst xmlns:a="http://schemas.openxmlformats.org/drawingml/2006/main">
              <a:ext uri="{FF2B5EF4-FFF2-40B4-BE49-F238E27FC236}">
                <a16:creationId xmlns:a16="http://schemas.microsoft.com/office/drawing/2014/main" id="{A0300C5D-DC0F-44B2-99B9-672E596F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05225"/>
            <a:ext cx="2000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set-point guidance</a:t>
            </a:r>
          </a:p>
        </p:txBody>
      </p:sp>
      <p:sp>
        <p:nvSpPr>
          <p:cNvPr id="17450" name="">
            <a:extLst xmlns:a="http://schemas.openxmlformats.org/drawingml/2006/main">
              <a:ext uri="{FF2B5EF4-FFF2-40B4-BE49-F238E27FC236}">
                <a16:creationId xmlns:a16="http://schemas.microsoft.com/office/drawing/2014/main" id="{874AFCE9-2009-4760-A0E7-2C70F2CD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33875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451" name="">
            <a:extLst xmlns:a="http://schemas.openxmlformats.org/drawingml/2006/main">
              <a:ext uri="{FF2B5EF4-FFF2-40B4-BE49-F238E27FC236}">
                <a16:creationId xmlns:a16="http://schemas.microsoft.com/office/drawing/2014/main" id="{2F27F418-371E-4E87-9143-C4459717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577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TRACEABLE</a:t>
            </a:r>
          </a:p>
        </p:txBody>
      </p:sp>
      <p:sp>
        <p:nvSpPr>
          <p:cNvPr id="17452" name="">
            <a:extLst xmlns:a="http://schemas.openxmlformats.org/drawingml/2006/main">
              <a:ext uri="{FF2B5EF4-FFF2-40B4-BE49-F238E27FC236}">
                <a16:creationId xmlns:a16="http://schemas.microsoft.com/office/drawing/2014/main" id="{CF1AE284-4CC2-441F-85AC-CEF3700F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43475"/>
            <a:ext cx="2000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decision-to-outcome loop</a:t>
            </a:r>
          </a:p>
        </p:txBody>
      </p:sp>
      <p:sp>
        <p:nvSpPr>
          <p:cNvPr id="17453" name="">
            <a:extLst xmlns:a="http://schemas.openxmlformats.org/drawingml/2006/main">
              <a:ext uri="{FF2B5EF4-FFF2-40B4-BE49-F238E27FC236}">
                <a16:creationId xmlns:a16="http://schemas.microsoft.com/office/drawing/2014/main" id="{07E07C06-2683-4BC6-8CA4-7868BB13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Advisory by design: the operator remains in control.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75" y="114300"/>
            <a:ext cx="109728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WORKING DASHBOARD: THE CLOSED LOOP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2246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E5B3003-2C54-13C6-9832-7637201064DE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GradeSense | Honeywell Hackathon Final Submission</a:t>
            </a:r>
          </a:p>
        </p:txBody>
      </p:sp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C7273E1C-74D9-461D-811E-03CB00A5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4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b25a559c24a0a"/>
          <a:stretch xmlns:a="http://schemas.openxmlformats.org/drawingml/2006/main"/>
        </p:blipFill>
        <p:spPr>
          <a:xfrm xmlns:a="http://schemas.openxmlformats.org/drawingml/2006/main">
            <a:off x="2581848" y="1333500"/>
            <a:ext cx="1265678" cy="1905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174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2fd97ee814f93"/>
          <a:stretch xmlns:a="http://schemas.openxmlformats.org/drawingml/2006/main"/>
        </p:blipFill>
        <p:spPr>
          <a:xfrm xmlns:a="http://schemas.openxmlformats.org/drawingml/2006/main">
            <a:off x="7558624" y="1333500"/>
            <a:ext cx="2837377" cy="1905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174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6c5020e3d40e9"/>
          <a:stretch xmlns:a="http://schemas.openxmlformats.org/drawingml/2006/main"/>
        </p:blipFill>
        <p:spPr>
          <a:xfrm xmlns:a="http://schemas.openxmlformats.org/drawingml/2006/main">
            <a:off x="2125748" y="3476625"/>
            <a:ext cx="2177878" cy="1905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174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cfa5cbc1b488e"/>
          <a:stretch xmlns:a="http://schemas.openxmlformats.org/drawingml/2006/main"/>
        </p:blipFill>
        <p:spPr>
          <a:xfrm xmlns:a="http://schemas.openxmlformats.org/drawingml/2006/main">
            <a:off x="7283979" y="3476625"/>
            <a:ext cx="3386667" cy="1905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56484C28-A7BE-4CD1-B0EC-58B19749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LIVE OPERATIONS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4C7334A3-44FE-4D56-ABBA-0BC58513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EXPLAINABLE PREDICTION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40E47EA9-75C6-4C26-B9B0-C1356873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207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CONSTRAINT-AWARE ACTION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62FF9F39-DCEF-4E3A-A7EB-7FF6442C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7207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ANALYTICS + GOVERNANCE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71F4CF3E-2F88-45C8-B9E4-A259F12B84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75" y="114300"/>
            <a:ext cx="109728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DEPLOYABLE TODAY; PILOT-READY NEXT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23825807-0422-473A-A60E-9AC0AF29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5263"/>
            <a:ext cx="9385300" cy="52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B17B8B-1ED0-4913-9FFE-8CDA6C2D8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C630A04-5A25-9E0C-9436-126091DB86B3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F455FFD7-6820-496E-8A61-96B9131370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GradeSense | Honeywell Hackathon Final Submission</a:t>
            </a:r>
          </a:p>
        </p:txBody>
      </p:sp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0EAF4CD6-2275-4453-A740-33E37952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97061429-9062-47B4-865B-3B72A753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DEPLOYMENT ARCHITECTURE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6305032F-BA71-45FC-8046-9395557E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19338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7E9AAB79-BABB-496A-BB3D-DF33DA9D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669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4BB8F684-4BA5-4FA9-B708-637E63E2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19338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7C32AA29-DE20-472C-AA5F-AE44D12A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669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4FA42C70-516E-4BBC-A5CB-6F3D73A8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19338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A53AA18D-563B-42FA-BEFA-3CC128F2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669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BD1654DF-B5B1-4374-88DF-23DCACDA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FF5ADDB6-2596-425D-AA7E-0A087C9F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F92731D5-6952-40B5-9E51-45CDFCB3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Mill browser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9E3D5162-6D96-473F-ADD6-65782979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1752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Operator experience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50786345-AEC8-4718-892C-4B0EBFCB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C1DD1EF4-494A-4EE8-87EA-FCA313AF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B1A2787E-63B7-489B-AC19-F5B5CBB8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95475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TLS gateway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01790FA1-37C6-419E-AE8B-85BD60A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1752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Identity + routing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90A4B631-ED69-4A24-AA2D-5165CFC8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AEF0BFD1-452D-411C-B0F3-8675803F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ACB7D807-FDD3-4F14-9B0C-CD78C76A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 + FastAPI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F73A6B7C-EDA1-42D6-B307-5B98804B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1752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Nginx, REST, WebSocket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ADFBFD4B-7856-48BD-810B-4CF76EAC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133F059F-A96A-417A-83E6-F180DF96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2B24AAFD-F8EB-420A-82D4-B7836B75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95475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96E1841E-56F3-4645-B825-3744F69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71700"/>
            <a:ext cx="1943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Durable history + audit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73AA2C25-16D2-4265-81EA-42A10A22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D0444631-F2E6-4A01-A28B-8F0A7B01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REFERENCE DELIVERY</a:t>
            </a:r>
          </a:p>
        </p:txBody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DB17D144-41BD-48F5-87FA-7079CF45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Docker Compose • Render blueprint • Alembic migrations • health checks • read-only model mounts</a:t>
            </a:r>
          </a:p>
        </p:txBody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40F6C591-1452-42E2-BDDA-1D903C41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PILOT NEXT</a:t>
            </a:r>
          </a:p>
        </p:txBody>
      </p: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8E382DB1-ABB7-4E7E-855B-8FE2542A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4667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Connect PLC/SCADA data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Calibrate on plant history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Enable SSO and governed roles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Measure off-spec and stabilization outcomes</a:t>
            </a:r>
          </a:p>
        </p:txBody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5C06B56D-AB92-4816-8DC2-BD51E429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191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41" name="">
            <a:extLst xmlns:a="http://schemas.openxmlformats.org/drawingml/2006/main">
              <a:ext uri="{FF2B5EF4-FFF2-40B4-BE49-F238E27FC236}">
                <a16:creationId xmlns:a16="http://schemas.microsoft.com/office/drawing/2014/main" id="{3231AF61-7078-4588-9632-28C8A763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33975"/>
            <a:ext cx="984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GradeSense turns model output into safe, explainable, measurable operator action.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2026-07-26T15:09:02.8910000Z</dcterms:created>
  <dcterms:modified xsi:type="dcterms:W3CDTF">2026-07-26T15:09:02.8910000Z</dcterms:modified>
</coreProperties>
</file>