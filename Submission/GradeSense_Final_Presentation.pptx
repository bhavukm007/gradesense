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18ade359f4818" /><Relationship Type="http://schemas.openxmlformats.org/officeDocument/2006/relationships/extended-properties" Target="/docProps/app.xml" Id="R2fed162fb72f40a0" /><Relationship Type="http://schemas.openxmlformats.org/officeDocument/2006/relationships/officeDocument" Target="/ppt/presentation.xml" Id="Rbaf18a429b20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6a062ef5241d8"/>
  </p:sldMasterIdLst>
  <p:notesMasterIdLst>
    <p:notesMasterId xmlns:r="http://schemas.openxmlformats.org/officeDocument/2006/relationships" r:id="R0e6a39d7a43f4f9f"/>
  </p:notesMasterIdLst>
  <p:sldIdLst>
    <p:sldId xmlns:r="http://schemas.openxmlformats.org/officeDocument/2006/relationships" id="256" r:id="Rc2f3976c3b20450d"/>
    <p:sldId xmlns:r="http://schemas.openxmlformats.org/officeDocument/2006/relationships" id="257" r:id="Ra02bbc1c0bc74d07"/>
    <p:sldId xmlns:r="http://schemas.openxmlformats.org/officeDocument/2006/relationships" id="258" r:id="Rc376c4dba7d94320"/>
    <p:sldId xmlns:r="http://schemas.openxmlformats.org/officeDocument/2006/relationships" id="259" r:id="R9ca619cfedb849c6"/>
    <p:sldId xmlns:r="http://schemas.openxmlformats.org/officeDocument/2006/relationships" id="260" r:id="Rb5c786cd12114e64"/>
    <p:sldId xmlns:r="http://schemas.openxmlformats.org/officeDocument/2006/relationships" id="261" r:id="Rfe72a5da80aa4b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e2eebc3134aee" /><Relationship Type="http://schemas.openxmlformats.org/officeDocument/2006/relationships/slideMaster" Target="/ppt/slideMasters/slideMaster1.xml" Id="Rc726a062ef5241d8" /><Relationship Type="http://schemas.openxmlformats.org/officeDocument/2006/relationships/notesMaster" Target="/ppt/notesMasters/notesMaster1.xml" Id="R0e6a39d7a43f4f9f" /><Relationship Type="http://schemas.openxmlformats.org/officeDocument/2006/relationships/presProps" Target="/ppt/presProps.xml" Id="Re1f81cbc517c4803" /><Relationship Type="http://schemas.openxmlformats.org/officeDocument/2006/relationships/viewProps" Target="/ppt/viewProps.xml" Id="Reb1f3dc969404c3d" /><Relationship Type="http://schemas.openxmlformats.org/officeDocument/2006/relationships/tableStyles" Target="/ppt/tableStyles.xml" Id="R0cc6fed5edd04644" /><Relationship Type="http://schemas.openxmlformats.org/officeDocument/2006/relationships/slide" Target="/ppt/slides/slide1.xml" Id="Rc2f3976c3b20450d" /><Relationship Type="http://schemas.openxmlformats.org/officeDocument/2006/relationships/slide" Target="/ppt/slides/slide2.xml" Id="Ra02bbc1c0bc74d07" /><Relationship Type="http://schemas.openxmlformats.org/officeDocument/2006/relationships/slide" Target="/ppt/slides/slide3.xml" Id="Rc376c4dba7d94320" /><Relationship Type="http://schemas.openxmlformats.org/officeDocument/2006/relationships/slide" Target="/ppt/slides/slide4.xml" Id="R9ca619cfedb849c6" /><Relationship Type="http://schemas.openxmlformats.org/officeDocument/2006/relationships/slide" Target="/ppt/slides/slide5.xml" Id="Rb5c786cd12114e64" /><Relationship Type="http://schemas.openxmlformats.org/officeDocument/2006/relationships/slide" Target="/ppt/slides/slide6.xml" Id="Rfe72a5da80aa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2c464d19c46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ca0f1a7b54ecd" /><Relationship Type="http://schemas.openxmlformats.org/officeDocument/2006/relationships/notesMaster" Target="/ppt/notesMasters/notesMaster1.xml" Id="R0dfe22c229ec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e9b81dbad4223" /><Relationship Type="http://schemas.openxmlformats.org/officeDocument/2006/relationships/notesMaster" Target="/ppt/notesMasters/notesMaster1.xml" Id="R509c21c6d555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80e8b52b3445f2" /><Relationship Type="http://schemas.openxmlformats.org/officeDocument/2006/relationships/notesMaster" Target="/ppt/notesMasters/notesMaster1.xml" Id="R764da3fabd64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46c311d216454f" /><Relationship Type="http://schemas.openxmlformats.org/officeDocument/2006/relationships/notesMaster" Target="/ppt/notesMasters/notesMaster1.xml" Id="R3937878ddfbb4d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d4ad016d834dc9" /><Relationship Type="http://schemas.openxmlformats.org/officeDocument/2006/relationships/notesMaster" Target="/ppt/notesMasters/notesMaster1.xml" Id="R71c225c9a53d4b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defa44e12f4dbc" /><Relationship Type="http://schemas.openxmlformats.org/officeDocument/2006/relationships/notesMaster" Target="/ppt/notesMasters/notesMaster1.xml" Id="R22774deddfdb46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GradeSense README.md</a:t>
            </a:r>
          </a:p>
          <a:p xmlns:a="http://schemas.openxmlformats.org/drawingml/2006/main"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README.md and docs/SYSTEM_ARCHITECTURE.md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No external claims or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docs/MODEL_OVERVIEW.md and backend/app/services/forecasting.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The comparison is qualitative; no external benchmark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backend/app/services/explainability.py, recommendation.py, intervention.py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Business-impact wording is directional; no unvalidated ROI figures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Internal source: models/grade_transition_model.joblib and models/basis_weight_forecast.joblib.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Metrics: crossing ROC-AUC 0.920313; mean trajectory MAE 1.388263; stabilization R2 0.9622; 20,000 snapshot records; 2,544 validation windows; 192/48 transition split.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Screenshots: Submission/screenshots/Home.png and Recommendation.png.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LIVE PRODUCT: https://gradesense-4weh.onrender.com/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 CODE: https://github.com/bhavukm007/GradeSense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API DOCUMENTATION: https://gradesense-api.onrender.com/docs</a:t>
            </a:r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DEMO VIDEO: https://drive.google.com/file/d/1rCr3CzuCit0O029VzyxIhHoR1lv9E93E/view?usp=sharing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b56f8b5cd47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c7bc4d58443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bfacfa71741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682fb107d47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2938be2eb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dde2d96b949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9a3b598db47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174487beb43b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7aa9ca89441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d3119657b4c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df5ea5d07494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73010-25E5-4CCE-90DA-115D49A3A5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058B85D-F814-4FF1-A755-2B35C151CE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133CF5-D305-40D8-BA34-0D8C29C1AB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3AC8BC-A3E0-4034-B642-940D47F7C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8298F-2872-4CFC-B789-792C7169BC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7DF429-2D3C-40E1-8393-CCF41BBA6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B0D5B1-089F-446B-862C-6F17FA3732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5FE46F-7F62-435C-B4E0-1F17B4C1D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09CECC-E945-41F0-A199-E9867E994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67ADD-B6C9-4B11-A903-A2980254E8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9AD8A-9ACE-43BD-B4C6-A88DDBF46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509EA1-A56C-4169-B81C-41A9F154DA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95F695-CF5D-4CF9-AE97-97416EBF9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B224C7-FD19-4262-8FAC-927A505960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3BA666-4597-42A0-80FB-B6CF98967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F8E4FD-240B-4438-B2ED-2ECFC2CD0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F5D3CD-97D9-4272-9B89-7D467C0EE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14415E2-8AC6-4C1A-A2E2-58A24F3C5B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86AE4-21A2-4DC6-B3F5-9443159CB0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C36EA5-8D69-4082-9185-C0452FC4B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0C4562-B7AF-4510-B076-16E9700AA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503408-F6E5-466D-97DA-C9CD5A40F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DC8B78-3F13-4A38-B565-68066B2BA6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4D1A54-AE85-4426-A82B-9902916432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4B02A28-0954-41A1-804E-F56724C8BA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2E8248-28F9-4B68-919D-C873D83C53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805788-2541-49E4-A19B-7E7105201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E44227-26F4-45D8-AC72-D72B65778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83F681-587D-412B-819F-C9A4A5818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EFBD24-3339-488F-A96C-74FBF3039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0E48A1-FFA3-4772-B45D-1FBE7E1DB4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8B1095-66E7-4E67-8298-130486F6D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D36EA7-6987-497B-B757-9FB42B844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AFBC51-DFEF-4858-A1BA-20132BBA16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0691EC-8FF7-4B91-B4A3-1C031F11D9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D1E496-F232-4726-80C6-FADFB3DB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102A2A-D41B-489D-BA33-67A5FF480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B8A344-0303-4B77-AF90-E739A30574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A053F9-B1C8-410D-8C25-BD0C1A1C77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A4E4A0-26DE-4EFC-8E52-36DC394DF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5BD37E-A806-42F2-8082-675730AD96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D63667-7084-4D95-B585-6A241D624D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31653-E5BF-497A-97D0-C7128762F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8B3DC2-360C-45C7-A890-B48A39F719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F262B1-57B7-4ACC-A38F-9A6130E55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089237-9E52-47DB-9210-CE7F376B5C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648C75-53A1-49E9-9B26-E560F849CD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52E30F-EA18-4A37-BFDF-8B8EC4F76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A0EBC-D991-423B-A050-CBDA57211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008739-5664-4573-BF91-0D9B720FE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5D118E-5B20-4784-8071-8D5550963D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44D85E-1251-435B-BEAA-E3BA6C33F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9818C-D816-477F-9416-979D1FBBB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75E78F-1E6B-43F6-85EB-057951810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0F787E-9D04-4E2C-B039-60292CC6C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6C8B09-C214-4FA6-85A1-96591E3CC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A09806-4DE5-4878-9CD5-BFF0B5B8C0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33EFCD-18C2-42BB-BB3B-B39B7683A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c826ce58af4d99" /><Relationship Type="http://schemas.openxmlformats.org/officeDocument/2006/relationships/slideLayout" Target="/ppt/slideLayouts/slideLayout1.xml" Id="R4d26c5da29cc42a9" /><Relationship Type="http://schemas.openxmlformats.org/officeDocument/2006/relationships/slideLayout" Target="/ppt/slideLayouts/slideLayout2.xml" Id="R056b6c152ace4567" /><Relationship Type="http://schemas.openxmlformats.org/officeDocument/2006/relationships/slideLayout" Target="/ppt/slideLayouts/slideLayout3.xml" Id="Rf891d02bcfcd400b" /><Relationship Type="http://schemas.openxmlformats.org/officeDocument/2006/relationships/slideLayout" Target="/ppt/slideLayouts/slideLayout4.xml" Id="R08a63681d37a4c6b" /><Relationship Type="http://schemas.openxmlformats.org/officeDocument/2006/relationships/slideLayout" Target="/ppt/slideLayouts/slideLayout5.xml" Id="Raf632c875c2c4be2" /><Relationship Type="http://schemas.openxmlformats.org/officeDocument/2006/relationships/slideLayout" Target="/ppt/slideLayouts/slideLayout6.xml" Id="Re8af17ac1c51466c" /><Relationship Type="http://schemas.openxmlformats.org/officeDocument/2006/relationships/slideLayout" Target="/ppt/slideLayouts/slideLayout7.xml" Id="Rb8976fdecd084ade" /><Relationship Type="http://schemas.openxmlformats.org/officeDocument/2006/relationships/slideLayout" Target="/ppt/slideLayouts/slideLayout8.xml" Id="R990cb2861ec349f8" /><Relationship Type="http://schemas.openxmlformats.org/officeDocument/2006/relationships/slideLayout" Target="/ppt/slideLayouts/slideLayout9.xml" Id="R85d4e5bee13c4ecf" /><Relationship Type="http://schemas.openxmlformats.org/officeDocument/2006/relationships/slideLayout" Target="/ppt/slideLayouts/slideLayout10.xml" Id="R951b08b4a46a46ec" /><Relationship Type="http://schemas.openxmlformats.org/officeDocument/2006/relationships/slideLayout" Target="/ppt/slideLayouts/slideLayout11.xml" Id="R6abc792bc0fb48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513CD8-818D-4CBE-AF2F-E25C60A75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E91228-662A-4B2F-A00E-3DCB44F20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990430-90CC-483E-90C8-39685D58E4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DFBFF7-8E64-4C46-B90A-9404B03828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E62547-E558-4906-860D-4398485F59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26c5da29cc42a9"/>
    <p:sldLayoutId xmlns:r="http://schemas.openxmlformats.org/officeDocument/2006/relationships" id="2147483650" r:id="R056b6c152ace4567"/>
    <p:sldLayoutId xmlns:r="http://schemas.openxmlformats.org/officeDocument/2006/relationships" id="2147483651" r:id="Rf891d02bcfcd400b"/>
    <p:sldLayoutId xmlns:r="http://schemas.openxmlformats.org/officeDocument/2006/relationships" id="2147483652" r:id="R08a63681d37a4c6b"/>
    <p:sldLayoutId xmlns:r="http://schemas.openxmlformats.org/officeDocument/2006/relationships" id="2147483653" r:id="Raf632c875c2c4be2"/>
    <p:sldLayoutId xmlns:r="http://schemas.openxmlformats.org/officeDocument/2006/relationships" id="2147483654" r:id="Re8af17ac1c51466c"/>
    <p:sldLayoutId xmlns:r="http://schemas.openxmlformats.org/officeDocument/2006/relationships" id="2147483655" r:id="Rb8976fdecd084ade"/>
    <p:sldLayoutId xmlns:r="http://schemas.openxmlformats.org/officeDocument/2006/relationships" id="2147483656" r:id="R990cb2861ec349f8"/>
    <p:sldLayoutId xmlns:r="http://schemas.openxmlformats.org/officeDocument/2006/relationships" id="2147483657" r:id="R85d4e5bee13c4ecf"/>
    <p:sldLayoutId xmlns:r="http://schemas.openxmlformats.org/officeDocument/2006/relationships" id="2147483658" r:id="R951b08b4a46a46ec"/>
    <p:sldLayoutId xmlns:r="http://schemas.openxmlformats.org/officeDocument/2006/relationships" id="2147483659" r:id="R6abc792bc0fb48fa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e0933882f24326" /><Relationship Type="http://schemas.openxmlformats.org/officeDocument/2006/relationships/notesSlide" Target="/ppt/notesSlides/notesSlide1.xml" Id="R505a579f0bc4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95765ed9040bf" /><Relationship Type="http://schemas.openxmlformats.org/officeDocument/2006/relationships/notesSlide" Target="/ppt/notesSlides/notesSlide2.xml" Id="R7b523f0d5863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e964ce7134dc5" /><Relationship Type="http://schemas.openxmlformats.org/officeDocument/2006/relationships/notesSlide" Target="/ppt/notesSlides/notesSlide3.xml" Id="R0d38f9ca1f20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6d324da2b44db" /><Relationship Type="http://schemas.openxmlformats.org/officeDocument/2006/relationships/notesSlide" Target="/ppt/notesSlides/notesSlide4.xml" Id="Rf42272b334b44e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7612e7eb64916" /><Relationship Type="http://schemas.openxmlformats.org/officeDocument/2006/relationships/image" Target="/ppt/media/image.jpeg" Id="R00c57edbeab8454f" /><Relationship Type="http://schemas.openxmlformats.org/officeDocument/2006/relationships/image" Target="/ppt/media/image2.jpeg" Id="R813c46f15ab04c9d" /><Relationship Type="http://schemas.openxmlformats.org/officeDocument/2006/relationships/image" Target="/ppt/media/image3.jpeg" Id="Race3567adfea49c9" /><Relationship Type="http://schemas.openxmlformats.org/officeDocument/2006/relationships/image" Target="/ppt/media/image4.jpeg" Id="R28b87c04b40b4e07" /><Relationship Type="http://schemas.openxmlformats.org/officeDocument/2006/relationships/image" Target="/ppt/media/image.png" Id="Rf5e59d0c8f0e49eb" /><Relationship Type="http://schemas.openxmlformats.org/officeDocument/2006/relationships/image" Target="/ppt/media/image2.png" Id="R7b4495d8466c4ab0" /><Relationship Type="http://schemas.openxmlformats.org/officeDocument/2006/relationships/notesSlide" Target="/ppt/notesSlides/notesSlide5.xml" Id="R11a9334df329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f63b8624b74d6d" /><Relationship Type="http://schemas.openxmlformats.org/officeDocument/2006/relationships/notesSlide" Target="/ppt/notesSlides/notesSlide6.xml" Id="R47b731eed32041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GradeSense | Honeywell Hackathon Final Submission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/>
            </a: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GRADESENSE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6866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Explainable AI for safer, faster paper grade transitions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Honeywell Hackathon Final Submission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Industrial AI | Software Prototype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Bhavuk Mahajan | GradeSense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3DD50-A882-4D01-8BED-4C2C4F5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667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1E753-F81C-41BF-965A-6D5F4B5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0728-1758-41E3-9842-1D5D965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52412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FDB22-C148-42D9-9358-FDA7B4CA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34450" y="287655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456DD-837D-48D9-86A8-BC6B495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037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7E8E7-A127-48C8-AA2D-F5670583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3571875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8C6EF-D732-4244-BDFA-557BF59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34450" y="392430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D16A6-9F9D-4839-9E8A-877EFEC5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3905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8259F-66C1-49F0-9806-F3E9E8F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863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Human-in-the-loop • Constraint-aware • Real-time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8989C0A6-15B8-4092-B0A6-C9CED7D2A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PREDICT BEFORE QUALITY DRIFTS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CB6430F0-4156-448D-AECD-DDDBE505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094265-58AF-4E3B-A05B-13D267AD8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rPr b="1">
                <a:solidFill>
                  <a:schemeClr val="bg1"/>
                </a:solidFill>
              </a:rPr>
              <a:t>2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70A572E-FA37-4267-B369-1729BAB6E5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| Honeywell Hackathon Final Submission</a:t>
            </a:r>
          </a:p>
        </p:txBody>
      </p:sp>
      <p:sp>
        <p:nvSpPr>
          <p:cNvPr id="15363" name="">
            <a:extLst xmlns:a="http://schemas.openxmlformats.org/drawingml/2006/main">
              <a:ext uri="{FF2B5EF4-FFF2-40B4-BE49-F238E27FC236}">
                <a16:creationId xmlns:a16="http://schemas.microsoft.com/office/drawing/2014/main" id="{B8776507-9725-46D9-AF95-D6BFDB38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B5DF5C8D-E653-4E31-BDF6-5C79A3E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333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7B325945-1F29-46BE-A39F-3902F54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Grade transitions are multivariable, time-dependent, and costly when deviation is detected late.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1B5F2097-2BF1-471C-A0C7-6251618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Operators must connect changing sensor values, future basis-weight behavior, safety constraints, and past outcomes under time pressure.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38403C6E-82A4-4DAA-952E-64686DC5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600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THE GRADE SENSE LOOP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3A879F2E-482A-44D1-8ACD-20DC4FB2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90763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E31A9B20-D58D-44F4-BC1A-9EE597D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383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603A3F3B-AD5B-4167-956A-039FDEB6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90763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7A8A0DCD-2469-452F-8960-FE33AD72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383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DE39DF38-A45C-44B7-B544-DC6C10B5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F5BFDD22-7237-400A-8EBD-9A2F97D9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7E68E1C2-24E8-410F-93A8-2E583C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94310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1DC26903-FD4C-4534-804E-F1CFAFD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19325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process state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8FFF8C90-DC72-4A39-B9D2-CF5B49EB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57375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6B5DBF5E-7AF9-4533-B01E-B493B207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28866587-15FE-444C-867E-0FF88823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43100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8B3CAD65-4E4A-44F7-896F-F6745F5F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19325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Quality, risk, time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3BAB3EE9-2E3A-4298-A07E-0F42B94D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57375"/>
            <a:ext cx="1524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E6028CF0-EEA1-4960-AF67-F211F6BB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57375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46A28C80-1E98-4806-B0F0-971E1FA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431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D4D3A425-8D9B-4580-BB46-5267DE4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219325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Safe ranked guidance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A31A6934-6945-4BC6-97D4-E5F9059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3000375"/>
            <a:ext cx="28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50ACD3B5-3EAB-493D-99AE-BC7294A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67950" y="3543300"/>
            <a:ext cx="133350" cy="114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0806ECC6-026F-49A8-A1AF-FE9E50F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1463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7" name="">
            <a:extLst xmlns:a="http://schemas.openxmlformats.org/drawingml/2006/main">
              <a:ext uri="{FF2B5EF4-FFF2-40B4-BE49-F238E27FC236}">
                <a16:creationId xmlns:a16="http://schemas.microsoft.com/office/drawing/2014/main" id="{A5C77BA1-23E8-4CFD-8EE1-F6BB9C6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29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8" name="">
            <a:extLst xmlns:a="http://schemas.openxmlformats.org/drawingml/2006/main">
              <a:ext uri="{FF2B5EF4-FFF2-40B4-BE49-F238E27FC236}">
                <a16:creationId xmlns:a16="http://schemas.microsoft.com/office/drawing/2014/main" id="{B03DD860-B3B7-4E4A-826F-1FBB8F4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1463"/>
            <a:ext cx="809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89" name="">
            <a:extLst xmlns:a="http://schemas.openxmlformats.org/drawingml/2006/main">
              <a:ext uri="{FF2B5EF4-FFF2-40B4-BE49-F238E27FC236}">
                <a16:creationId xmlns:a16="http://schemas.microsoft.com/office/drawing/2014/main" id="{9A2E48BC-BA59-43DD-8F0C-537656C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0" name="">
            <a:extLst xmlns:a="http://schemas.openxmlformats.org/drawingml/2006/main">
              <a:ext uri="{FF2B5EF4-FFF2-40B4-BE49-F238E27FC236}">
                <a16:creationId xmlns:a16="http://schemas.microsoft.com/office/drawing/2014/main" id="{848879AC-02E2-4F9D-AB48-7D27637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1" name="">
            <a:extLst xmlns:a="http://schemas.openxmlformats.org/drawingml/2006/main">
              <a:ext uri="{FF2B5EF4-FFF2-40B4-BE49-F238E27FC236}">
                <a16:creationId xmlns:a16="http://schemas.microsoft.com/office/drawing/2014/main" id="{A2BCE200-826F-4346-BB7B-04D33009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2" name="">
            <a:extLst xmlns:a="http://schemas.openxmlformats.org/drawingml/2006/main">
              <a:ext uri="{FF2B5EF4-FFF2-40B4-BE49-F238E27FC236}">
                <a16:creationId xmlns:a16="http://schemas.microsoft.com/office/drawing/2014/main" id="{83877725-22BF-49FB-9BFE-688FD52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24275"/>
            <a:ext cx="1228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5393" name="">
            <a:extLst xmlns:a="http://schemas.openxmlformats.org/drawingml/2006/main">
              <a:ext uri="{FF2B5EF4-FFF2-40B4-BE49-F238E27FC236}">
                <a16:creationId xmlns:a16="http://schemas.microsoft.com/office/drawing/2014/main" id="{BE0EB78A-5C27-4185-946A-7FF1DC5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00500"/>
            <a:ext cx="12287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Decision + outcome</a:t>
            </a:r>
          </a:p>
        </p:txBody>
      </p:sp>
      <p:sp>
        <p:nvSpPr>
          <p:cNvPr id="15394" name="">
            <a:extLst xmlns:a="http://schemas.openxmlformats.org/drawingml/2006/main">
              <a:ext uri="{FF2B5EF4-FFF2-40B4-BE49-F238E27FC236}">
                <a16:creationId xmlns:a16="http://schemas.microsoft.com/office/drawing/2014/main" id="{DA9231A8-6DAD-47DE-8BF2-019EC6FA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1381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5" name="">
            <a:extLst xmlns:a="http://schemas.openxmlformats.org/drawingml/2006/main">
              <a:ext uri="{FF2B5EF4-FFF2-40B4-BE49-F238E27FC236}">
                <a16:creationId xmlns:a16="http://schemas.microsoft.com/office/drawing/2014/main" id="{30965745-A8D7-4D2F-A9CE-E214B1C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96" name="">
            <a:extLst xmlns:a="http://schemas.openxmlformats.org/drawingml/2006/main">
              <a:ext uri="{FF2B5EF4-FFF2-40B4-BE49-F238E27FC236}">
                <a16:creationId xmlns:a16="http://schemas.microsoft.com/office/drawing/2014/main" id="{1303CAD5-92BE-41A5-8D6C-F97C21E7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24275"/>
            <a:ext cx="1133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397" name="">
            <a:extLst xmlns:a="http://schemas.openxmlformats.org/drawingml/2006/main">
              <a:ext uri="{FF2B5EF4-FFF2-40B4-BE49-F238E27FC236}">
                <a16:creationId xmlns:a16="http://schemas.microsoft.com/office/drawing/2014/main" id="{3F7C0064-FE69-4BEF-974A-DE47D9B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1334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Drivers + confidence</a:t>
            </a:r>
          </a:p>
        </p:txBody>
      </p:sp>
      <p:sp>
        <p:nvSpPr>
          <p:cNvPr id="15398" name="">
            <a:extLst xmlns:a="http://schemas.openxmlformats.org/drawingml/2006/main">
              <a:ext uri="{FF2B5EF4-FFF2-40B4-BE49-F238E27FC236}">
                <a16:creationId xmlns:a16="http://schemas.microsoft.com/office/drawing/2014/main" id="{5B41ACC1-03EA-4F22-BD69-CA0E059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38550"/>
            <a:ext cx="1524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399" name="">
            <a:extLst xmlns:a="http://schemas.openxmlformats.org/drawingml/2006/main">
              <a:ext uri="{FF2B5EF4-FFF2-40B4-BE49-F238E27FC236}">
                <a16:creationId xmlns:a16="http://schemas.microsoft.com/office/drawing/2014/main" id="{E9F74A8E-B7E5-416F-A5F7-7C124A4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38550"/>
            <a:ext cx="66675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00" name="">
            <a:extLst xmlns:a="http://schemas.openxmlformats.org/drawingml/2006/main">
              <a:ext uri="{FF2B5EF4-FFF2-40B4-BE49-F238E27FC236}">
                <a16:creationId xmlns:a16="http://schemas.microsoft.com/office/drawing/2014/main" id="{65727EBD-CB1D-4E2F-ABFC-D729F59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2427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15401" name="">
            <a:extLst xmlns:a="http://schemas.openxmlformats.org/drawingml/2006/main">
              <a:ext uri="{FF2B5EF4-FFF2-40B4-BE49-F238E27FC236}">
                <a16:creationId xmlns:a16="http://schemas.microsoft.com/office/drawing/2014/main" id="{298A2156-72D9-4714-B64B-94589E1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Forecast under action</a:t>
            </a:r>
          </a:p>
        </p:txBody>
      </p:sp>
      <p:sp>
        <p:nvSpPr>
          <p:cNvPr id="15402" name="">
            <a:extLst xmlns:a="http://schemas.openxmlformats.org/drawingml/2006/main">
              <a:ext uri="{FF2B5EF4-FFF2-40B4-BE49-F238E27FC236}">
                <a16:creationId xmlns:a16="http://schemas.microsoft.com/office/drawing/2014/main" id="{D363570D-54BC-41A6-BF33-8E6E0985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57750"/>
            <a:ext cx="600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governed system connects detection, explanation, intervention, and measurable learning.</a:t>
            </a:r>
          </a:p>
        </p:txBody>
      </p:sp>
    </p:spTree>
    <p:extLst>
      <p:ext uri="{BB962C8B-B14F-4D97-AF65-F5344CB8AC3E}">
        <p14:creationId xmlns:p14="http://schemas.microsoft.com/office/powerpoint/2010/main" val="908364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8417784-0E02-44F5-9378-88C807C53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WHY GRADESENSE IS DIFFERENT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DB7F155-0F60-4741-AF98-664B8CE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DFFD6A-94ED-48D8-BF28-734172A6D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72C87E8-4F26-4C1A-A6D7-EADBB7BE0D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CFD0AC84-7E17-4B42-99D4-664BC5A6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5135E1C6-9AE9-4358-A097-94BC6FDA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B68AEC45-F8BB-445F-A973-A90C5567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C2A5FC8D-E2F8-4B01-91B3-421645A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834CE103-477B-4F80-8C70-25AF17A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BC8D65DE-BA13-497D-A6D9-9CF8B4D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95C3E5C0-329E-478F-B94C-FB284116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66963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847289FD-4F4C-4D03-B065-4AED907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145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7CAD3786-92B3-439D-8BCA-74F00558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E7614FC-53EE-4F29-8CB7-C61C2FA2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F37080D2-9DA9-4D88-B5BC-B68E8F4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UI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69A98B6B-C40F-42A4-9097-6A4ADAD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+ governance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972A3AC2-FA6C-48A8-8323-588C8DC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5194EE47-8E25-42DC-8D54-329AD0C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A66295EE-75A2-4381-80AD-C40F715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5B380EBF-1B8C-4603-859D-3DFD700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REST + WebSocket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A5495470-FEA2-4D2C-B1D1-88482ACE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0EE9951C-2AC1-4BEE-BA40-246EE87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4D188C87-FDB1-4EC3-97A3-6D318735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1800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Domain services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2A6FD254-FE8A-4A86-A5F0-A3D157B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19325"/>
            <a:ext cx="1800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Inference + intervention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30A3E9B0-2DCC-42E2-A156-63F6534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2143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AAF69B15-760E-4491-9A76-CEB8644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57375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63EB64A6-524E-4676-8C8B-38FBFD09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1895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SQL + artifacts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D96C07F-37A1-414A-803E-97C1B188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19325"/>
            <a:ext cx="18954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History + immutable models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26688D78-A61E-47F2-B501-A7CAC58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AI WORKFLOW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635833AB-7576-4BC5-92BB-6B11763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DF6F523F-F2C9-4356-BB33-1CE950B9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4327EE22-E900-4B15-A3BF-CA833A2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CC4D40A2-B214-4C6E-9922-566A3DA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669A5B17-B05A-497F-AC3F-7AAEE3C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F1EB74C5-1C3A-4E38-9371-B28D8E40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Typed process state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AA3B795E-AB5E-4D3B-9484-0D4DE8AB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8603FF1C-19F3-4846-A3B3-4A75117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1A82B75C-5AEB-4337-85D6-00E4258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B36EEB68-B1DA-40B0-AA04-90B3049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D39AA5EA-6417-4A74-8EB6-D3E1CC85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67E3D582-5F23-4289-AC0E-5245DB1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Direct horizon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5B71AFF9-92A4-4258-8BB7-7E6506C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0F142F9A-04F3-4D28-BA6C-46035E6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185C2B80-CD88-4F9C-AFE3-D057461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0BD27F4B-EB92-4F08-9AB1-441990B1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B8941596-392C-4F17-B37C-670C20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5BC241E6-7612-4BB5-8948-F74CC58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Drivers + confidence</a:t>
            </a:r>
          </a:p>
        </p:txBody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51D8C435-F87D-4DD1-A63E-B56C4148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48163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C0ED6DB2-762F-423A-9162-C355793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7B692604-38BD-4A8E-A093-309B775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57" name="">
            <a:extLst xmlns:a="http://schemas.openxmlformats.org/drawingml/2006/main">
              <a:ext uri="{FF2B5EF4-FFF2-40B4-BE49-F238E27FC236}">
                <a16:creationId xmlns:a16="http://schemas.microsoft.com/office/drawing/2014/main" id="{6E581C7E-C369-4AE6-97DD-4A99DA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58" name="">
            <a:extLst xmlns:a="http://schemas.openxmlformats.org/drawingml/2006/main">
              <a:ext uri="{FF2B5EF4-FFF2-40B4-BE49-F238E27FC236}">
                <a16:creationId xmlns:a16="http://schemas.microsoft.com/office/drawing/2014/main" id="{FD6C0A1D-71AA-4AC9-999E-433ECBC2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Constrain</a:t>
            </a:r>
          </a:p>
        </p:txBody>
      </p:sp>
      <p:sp>
        <p:nvSpPr>
          <p:cNvPr id="17459" name="">
            <a:extLst xmlns:a="http://schemas.openxmlformats.org/drawingml/2006/main">
              <a:ext uri="{FF2B5EF4-FFF2-40B4-BE49-F238E27FC236}">
                <a16:creationId xmlns:a16="http://schemas.microsoft.com/office/drawing/2014/main" id="{8E413B4F-03F5-4980-9F68-FAB13FD0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Safety gate</a:t>
            </a:r>
          </a:p>
        </p:txBody>
      </p:sp>
      <p:sp>
        <p:nvSpPr>
          <p:cNvPr id="17460" name="">
            <a:extLst xmlns:a="http://schemas.openxmlformats.org/drawingml/2006/main">
              <a:ext uri="{FF2B5EF4-FFF2-40B4-BE49-F238E27FC236}">
                <a16:creationId xmlns:a16="http://schemas.microsoft.com/office/drawing/2014/main" id="{07D7652E-F688-4F83-B1F2-20E687B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62375"/>
            <a:ext cx="1771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7461" name="">
            <a:extLst xmlns:a="http://schemas.openxmlformats.org/drawingml/2006/main">
              <a:ext uri="{FF2B5EF4-FFF2-40B4-BE49-F238E27FC236}">
                <a16:creationId xmlns:a16="http://schemas.microsoft.com/office/drawing/2014/main" id="{72C7D7B5-CBB6-431F-A085-E78ADE29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57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62" name="">
            <a:extLst xmlns:a="http://schemas.openxmlformats.org/drawingml/2006/main">
              <a:ext uri="{FF2B5EF4-FFF2-40B4-BE49-F238E27FC236}">
                <a16:creationId xmlns:a16="http://schemas.microsoft.com/office/drawing/2014/main" id="{80E7B8B9-4DF4-4541-A4A2-7C969E46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219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7463" name="">
            <a:extLst xmlns:a="http://schemas.openxmlformats.org/drawingml/2006/main">
              <a:ext uri="{FF2B5EF4-FFF2-40B4-BE49-F238E27FC236}">
                <a16:creationId xmlns:a16="http://schemas.microsoft.com/office/drawing/2014/main" id="{5ED8F61A-BF34-48A8-A07A-4EC6AC5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148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Ranked benefit</a:t>
            </a:r>
          </a:p>
        </p:txBody>
      </p:sp>
      <p:sp>
        <p:nvSpPr>
          <p:cNvPr id="17464" name="">
            <a:extLst xmlns:a="http://schemas.openxmlformats.org/drawingml/2006/main">
              <a:ext uri="{FF2B5EF4-FFF2-40B4-BE49-F238E27FC236}">
                <a16:creationId xmlns:a16="http://schemas.microsoft.com/office/drawing/2014/main" id="{D9078A63-24C8-40A0-A76D-9274A2E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Python • FastAPI • SQLAlchemy • scikit-learn • React • TypeScript • PostgreSQL • Docker</a:t>
            </a:r>
          </a:p>
        </p:txBody>
      </p:sp>
      <p:sp>
        <p:nvSpPr>
          <p:cNvPr id="17465" name="">
            <a:extLst xmlns:a="http://schemas.openxmlformats.org/drawingml/2006/main">
              <a:ext uri="{FF2B5EF4-FFF2-40B4-BE49-F238E27FC236}">
                <a16:creationId xmlns:a16="http://schemas.microsoft.com/office/drawing/2014/main" id="{586B991C-40A7-49F8-86F8-4FFCD4FF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8237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66" name="">
            <a:extLst xmlns:a="http://schemas.openxmlformats.org/drawingml/2006/main">
              <a:ext uri="{FF2B5EF4-FFF2-40B4-BE49-F238E27FC236}">
                <a16:creationId xmlns:a16="http://schemas.microsoft.com/office/drawing/2014/main" id="{83779965-2D62-4451-B56B-4E0084A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WHY THIS APPROACH</a:t>
            </a:r>
          </a:p>
        </p:txBody>
      </p:sp>
      <p:sp>
        <p:nvSpPr>
          <p:cNvPr id="17467" name="">
            <a:extLst xmlns:a="http://schemas.openxmlformats.org/drawingml/2006/main">
              <a:ext uri="{FF2B5EF4-FFF2-40B4-BE49-F238E27FC236}">
                <a16:creationId xmlns:a16="http://schemas.microsoft.com/office/drawing/2014/main" id="{61E3CF45-228F-435E-B81D-D8A4A19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Forecast the whole trajectory, then simulate only constraint-valid actions with the same active model.</a:t>
            </a:r>
          </a:p>
        </p:txBody>
      </p:sp>
      <p:sp>
        <p:nvSpPr>
          <p:cNvPr id="17468" name="">
            <a:extLst xmlns:a="http://schemas.openxmlformats.org/drawingml/2006/main">
              <a:ext uri="{FF2B5EF4-FFF2-40B4-BE49-F238E27FC236}">
                <a16:creationId xmlns:a16="http://schemas.microsoft.com/office/drawing/2014/main" id="{E8AA4C01-3E27-41AF-80CE-F29A2839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result is earlier warning without recursive error accumulation - plus recommendations an operator can verify before acting.</a:t>
            </a:r>
          </a:p>
        </p:txBody>
      </p:sp>
      <p:sp>
        <p:nvSpPr>
          <p:cNvPr id="17469" name="">
            <a:extLst xmlns:a="http://schemas.openxmlformats.org/drawingml/2006/main">
              <a:ext uri="{FF2B5EF4-FFF2-40B4-BE49-F238E27FC236}">
                <a16:creationId xmlns:a16="http://schemas.microsoft.com/office/drawing/2014/main" id="{CE62C8F3-20AF-4735-B5FA-C26F54B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DESIGN ADVANTAGES</a:t>
            </a:r>
          </a:p>
        </p:txBody>
      </p:sp>
      <p:sp>
        <p:nvSpPr>
          <p:cNvPr id="17470" name="">
            <a:extLst xmlns:a="http://schemas.openxmlformats.org/drawingml/2006/main">
              <a:ext uri="{FF2B5EF4-FFF2-40B4-BE49-F238E27FC236}">
                <a16:creationId xmlns:a16="http://schemas.microsoft.com/office/drawing/2014/main" id="{E6228E4D-AAA5-422F-A883-E2F32577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Windows never cross transitions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Empirical confidence bands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Safety gate before inference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Human approval + outcome audit</a:t>
            </a:r>
          </a:p>
        </p:txBody>
      </p:sp>
      <p:sp>
        <p:nvSpPr>
          <p:cNvPr id="17471" name="">
            <a:extLst xmlns:a="http://schemas.openxmlformats.org/drawingml/2006/main">
              <a:ext uri="{FF2B5EF4-FFF2-40B4-BE49-F238E27FC236}">
                <a16:creationId xmlns:a16="http://schemas.microsoft.com/office/drawing/2014/main" id="{3D099460-0B4A-48A0-A3CA-E52B05B6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352550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APPROACH COMPARISON</a:t>
            </a:r>
          </a:p>
        </p:txBody>
      </p:sp>
      <p:sp>
        <p:nvSpPr>
          <p:cNvPr id="17472" name="">
            <a:extLst xmlns:a="http://schemas.openxmlformats.org/drawingml/2006/main">
              <a:ext uri="{FF2B5EF4-FFF2-40B4-BE49-F238E27FC236}">
                <a16:creationId xmlns:a16="http://schemas.microsoft.com/office/drawing/2014/main" id="{5B8E973D-FF4B-4C7C-B2EB-9960E17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7473" name="">
            <a:extLst xmlns:a="http://schemas.openxmlformats.org/drawingml/2006/main">
              <a:ext uri="{FF2B5EF4-FFF2-40B4-BE49-F238E27FC236}">
                <a16:creationId xmlns:a16="http://schemas.microsoft.com/office/drawing/2014/main" id="{06E04BFE-1D46-4220-993F-288C50EB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WARNING</a:t>
            </a:r>
          </a:p>
        </p:txBody>
      </p:sp>
      <p:sp>
        <p:nvSpPr>
          <p:cNvPr id="17474" name="">
            <a:extLst xmlns:a="http://schemas.openxmlformats.org/drawingml/2006/main">
              <a:ext uri="{FF2B5EF4-FFF2-40B4-BE49-F238E27FC236}">
                <a16:creationId xmlns:a16="http://schemas.microsoft.com/office/drawing/2014/main" id="{70EBC73E-58F6-4B38-B01A-D0C8BC6B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ACTION QUALITY</a:t>
            </a:r>
          </a:p>
        </p:txBody>
      </p:sp>
      <p:sp>
        <p:nvSpPr>
          <p:cNvPr id="17475" name="">
            <a:extLst xmlns:a="http://schemas.openxmlformats.org/drawingml/2006/main">
              <a:ext uri="{FF2B5EF4-FFF2-40B4-BE49-F238E27FC236}">
                <a16:creationId xmlns:a16="http://schemas.microsoft.com/office/drawing/2014/main" id="{8DAB5B33-10F3-4967-BB73-E21B19A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526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17476" name="">
            <a:extLst xmlns:a="http://schemas.openxmlformats.org/drawingml/2006/main">
              <a:ext uri="{FF2B5EF4-FFF2-40B4-BE49-F238E27FC236}">
                <a16:creationId xmlns:a16="http://schemas.microsoft.com/office/drawing/2014/main" id="{3D980694-2500-4A0C-AE14-08B8B6A8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6048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77" name="">
            <a:extLst xmlns:a="http://schemas.openxmlformats.org/drawingml/2006/main">
              <a:ext uri="{FF2B5EF4-FFF2-40B4-BE49-F238E27FC236}">
                <a16:creationId xmlns:a16="http://schemas.microsoft.com/office/drawing/2014/main" id="{8C615CEC-63E4-4262-8C63-8C8DC7E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6217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Reactive thresholds</a:t>
            </a:r>
          </a:p>
        </p:txBody>
      </p:sp>
      <p:sp>
        <p:nvSpPr>
          <p:cNvPr id="17478" name="">
            <a:extLst xmlns:a="http://schemas.openxmlformats.org/drawingml/2006/main">
              <a:ext uri="{FF2B5EF4-FFF2-40B4-BE49-F238E27FC236}">
                <a16:creationId xmlns:a16="http://schemas.microsoft.com/office/drawing/2014/main" id="{52FA0F61-FDB7-4755-9653-707DEFEC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62175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17479" name="">
            <a:extLst xmlns:a="http://schemas.openxmlformats.org/drawingml/2006/main">
              <a:ext uri="{FF2B5EF4-FFF2-40B4-BE49-F238E27FC236}">
                <a16:creationId xmlns:a16="http://schemas.microsoft.com/office/drawing/2014/main" id="{A13DB7E7-249A-4CBE-9461-4C7A0EC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621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None</a:t>
            </a:r>
          </a:p>
        </p:txBody>
      </p:sp>
      <p:sp>
        <p:nvSpPr>
          <p:cNvPr id="17480" name="">
            <a:extLst xmlns:a="http://schemas.openxmlformats.org/drawingml/2006/main">
              <a:ext uri="{FF2B5EF4-FFF2-40B4-BE49-F238E27FC236}">
                <a16:creationId xmlns:a16="http://schemas.microsoft.com/office/drawing/2014/main" id="{21AB7B38-8EFC-4F40-94D5-1E5F4B3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621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7481" name="">
            <a:extLst xmlns:a="http://schemas.openxmlformats.org/drawingml/2006/main">
              <a:ext uri="{FF2B5EF4-FFF2-40B4-BE49-F238E27FC236}">
                <a16:creationId xmlns:a16="http://schemas.microsoft.com/office/drawing/2014/main" id="{8AAA7730-8674-4A31-BD35-A638273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81300"/>
            <a:ext cx="6048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82" name="">
            <a:extLst xmlns:a="http://schemas.openxmlformats.org/drawingml/2006/main">
              <a:ext uri="{FF2B5EF4-FFF2-40B4-BE49-F238E27FC236}">
                <a16:creationId xmlns:a16="http://schemas.microsoft.com/office/drawing/2014/main" id="{0B412E14-2CCC-4E94-8C7F-D8C32DE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797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Recursive forecast</a:t>
            </a:r>
          </a:p>
        </p:txBody>
      </p:sp>
      <p:sp>
        <p:nvSpPr>
          <p:cNvPr id="17483" name="">
            <a:extLst xmlns:a="http://schemas.openxmlformats.org/drawingml/2006/main">
              <a:ext uri="{FF2B5EF4-FFF2-40B4-BE49-F238E27FC236}">
                <a16:creationId xmlns:a16="http://schemas.microsoft.com/office/drawing/2014/main" id="{DCA524EC-D1F2-4401-9172-46B3A07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47975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Early</a:t>
            </a:r>
          </a:p>
        </p:txBody>
      </p:sp>
      <p:sp>
        <p:nvSpPr>
          <p:cNvPr id="17484" name="">
            <a:extLst xmlns:a="http://schemas.openxmlformats.org/drawingml/2006/main">
              <a:ext uri="{FF2B5EF4-FFF2-40B4-BE49-F238E27FC236}">
                <a16:creationId xmlns:a16="http://schemas.microsoft.com/office/drawing/2014/main" id="{121B7B05-9468-4B83-857B-5C66B66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479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Error compounds</a:t>
            </a:r>
          </a:p>
        </p:txBody>
      </p:sp>
      <p:sp>
        <p:nvSpPr>
          <p:cNvPr id="17485" name="">
            <a:extLst xmlns:a="http://schemas.openxmlformats.org/drawingml/2006/main">
              <a:ext uri="{FF2B5EF4-FFF2-40B4-BE49-F238E27FC236}">
                <a16:creationId xmlns:a16="http://schemas.microsoft.com/office/drawing/2014/main" id="{6FF4B0F9-7FCF-4516-A0A9-EAD490A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479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7486" name="">
            <a:extLst xmlns:a="http://schemas.openxmlformats.org/drawingml/2006/main">
              <a:ext uri="{FF2B5EF4-FFF2-40B4-BE49-F238E27FC236}">
                <a16:creationId xmlns:a16="http://schemas.microsoft.com/office/drawing/2014/main" id="{F295AC59-A7DF-4BEE-A726-DE44C3D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67100"/>
            <a:ext cx="6048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87" name="">
            <a:extLst xmlns:a="http://schemas.openxmlformats.org/drawingml/2006/main">
              <a:ext uri="{FF2B5EF4-FFF2-40B4-BE49-F238E27FC236}">
                <a16:creationId xmlns:a16="http://schemas.microsoft.com/office/drawing/2014/main" id="{8E45B087-FA10-4D9D-8BD3-882FD39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Black-box optimizer</a:t>
            </a:r>
          </a:p>
        </p:txBody>
      </p:sp>
      <p:sp>
        <p:nvSpPr>
          <p:cNvPr id="17488" name="">
            <a:extLst xmlns:a="http://schemas.openxmlformats.org/drawingml/2006/main">
              <a:ext uri="{FF2B5EF4-FFF2-40B4-BE49-F238E27FC236}">
                <a16:creationId xmlns:a16="http://schemas.microsoft.com/office/drawing/2014/main" id="{23B0C64F-BE54-4DCF-BC91-51B95AC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33775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Early</a:t>
            </a:r>
          </a:p>
        </p:txBody>
      </p:sp>
      <p:sp>
        <p:nvSpPr>
          <p:cNvPr id="17489" name="">
            <a:extLst xmlns:a="http://schemas.openxmlformats.org/drawingml/2006/main">
              <a:ext uri="{FF2B5EF4-FFF2-40B4-BE49-F238E27FC236}">
                <a16:creationId xmlns:a16="http://schemas.microsoft.com/office/drawing/2014/main" id="{56550DCA-CF8C-4F4A-9892-8908C20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337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Needs external guardrails</a:t>
            </a:r>
          </a:p>
        </p:txBody>
      </p:sp>
      <p:sp>
        <p:nvSpPr>
          <p:cNvPr id="17490" name="">
            <a:extLst xmlns:a="http://schemas.openxmlformats.org/drawingml/2006/main">
              <a:ext uri="{FF2B5EF4-FFF2-40B4-BE49-F238E27FC236}">
                <a16:creationId xmlns:a16="http://schemas.microsoft.com/office/drawing/2014/main" id="{37325C1F-D042-4247-8780-65FF7307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337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7491" name="">
            <a:extLst xmlns:a="http://schemas.openxmlformats.org/drawingml/2006/main">
              <a:ext uri="{FF2B5EF4-FFF2-40B4-BE49-F238E27FC236}">
                <a16:creationId xmlns:a16="http://schemas.microsoft.com/office/drawing/2014/main" id="{AFD6AB41-2052-4C86-B976-6B06961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52900"/>
            <a:ext cx="6048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7492" name="">
            <a:extLst xmlns:a="http://schemas.openxmlformats.org/drawingml/2006/main">
              <a:ext uri="{FF2B5EF4-FFF2-40B4-BE49-F238E27FC236}">
                <a16:creationId xmlns:a16="http://schemas.microsoft.com/office/drawing/2014/main" id="{13E1BB57-4F62-450B-83FA-090DE987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19575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GradeSense</a:t>
            </a:r>
          </a:p>
        </p:txBody>
      </p:sp>
      <p:sp>
        <p:nvSpPr>
          <p:cNvPr id="17493" name="">
            <a:extLst xmlns:a="http://schemas.openxmlformats.org/drawingml/2006/main">
              <a:ext uri="{FF2B5EF4-FFF2-40B4-BE49-F238E27FC236}">
                <a16:creationId xmlns:a16="http://schemas.microsoft.com/office/drawing/2014/main" id="{BCD465AB-844A-4B65-9851-1A52F05F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9575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Early + 12-step</a:t>
            </a:r>
          </a:p>
        </p:txBody>
      </p:sp>
      <p:sp>
        <p:nvSpPr>
          <p:cNvPr id="17494" name="">
            <a:extLst xmlns:a="http://schemas.openxmlformats.org/drawingml/2006/main">
              <a:ext uri="{FF2B5EF4-FFF2-40B4-BE49-F238E27FC236}">
                <a16:creationId xmlns:a16="http://schemas.microsoft.com/office/drawing/2014/main" id="{162C63BC-D097-4344-B637-9E29B7C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9575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Pre-checked + simulated</a:t>
            </a:r>
          </a:p>
        </p:txBody>
      </p:sp>
      <p:sp>
        <p:nvSpPr>
          <p:cNvPr id="17495" name="">
            <a:extLst xmlns:a="http://schemas.openxmlformats.org/drawingml/2006/main">
              <a:ext uri="{FF2B5EF4-FFF2-40B4-BE49-F238E27FC236}">
                <a16:creationId xmlns:a16="http://schemas.microsoft.com/office/drawing/2014/main" id="{204A35C9-3991-4155-952B-AEB523B9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195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4095457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F0DF0F-DC13-4277-A4FB-0C5D02A47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EXPLAINABILITY, SAFETY, AND OUTCOMES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6253D7F-A5AD-47FB-A87B-50A2CC0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70034A-232D-4D25-A507-0A54242E1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FD6AB9A-5F9E-5F59-51AB-3C8734130965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614EC5D-C07E-4AA7-A55A-491B1889D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D3DE4CC3-AD5A-4607-95CE-282EE5C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31C59E5-9C63-438B-B309-B0C4252E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90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EXPLAINABLE AI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FCEBC89-2F62-4EED-91D1-13E5E476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1840659C-682D-4C62-9609-1E98868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did risk change?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762684B-249E-47DB-A8F0-34ED9F0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Moisture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854610F6-43E3-4CF5-8C06-A5464FE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A3714893-5A39-4255-9B29-2DFF27A1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10401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C6259C35-EEA7-4579-BAB1-2FE0D27F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Steam pressure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98CE165-EDB8-4280-943A-2E41DAD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623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1FF6D554-B5AF-436E-961F-C0950133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62300"/>
            <a:ext cx="8420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1B9D8C7E-A947-4415-8285-5C94445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Machine speed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B4DEA959-BEC8-41F4-A728-79B17227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81415C25-1942-440B-A508-7FFE5C6B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6438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A83B4EAA-37B2-4F58-A416-7ADFC19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Feature direction • model version • confidence • drift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86408042-6593-419F-9DFC-C93E759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RECOMMENDATION ENGINE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7E38D9B4-529C-4B4E-95BD-BD7531AE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43163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B8CAA6AA-47F1-4D73-A4BB-9D6E670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90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B6414A28-8FA4-4FDD-B0C6-8038776C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43163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62A5E649-D712-4326-9073-6BC774E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90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B62201E-2D1D-4769-8BCF-E021C258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04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94C1814-A8A5-486D-AEB4-5D8B27C0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68122302-126D-4BA3-943F-E1A9F35E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383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CD38B757-1768-436F-8606-6E4CD8F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14575"/>
            <a:ext cx="800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1-4 variable actions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8319E0B6-175A-47B6-99D2-EB73E5C9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04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EF0D6965-3439-4329-B897-C0362C58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54EAD713-A717-4BEF-BADB-8093F2D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80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0C0656AB-A9C8-4F2C-BCC7-47CB37D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14575"/>
            <a:ext cx="800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Reject unsafe sets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0A92742B-7CB5-44AA-9B30-DC60094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190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129DC4D7-23BC-420B-8F32-5B4842E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B5C62628-793A-4E58-BFD0-80E0D6DC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38350"/>
            <a:ext cx="942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CA951D2B-A063-42A3-8951-CBDFD91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14575"/>
            <a:ext cx="9429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Compare to baseline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A3E231EC-6650-45FA-93E9-53F27C1F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4238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Only positive, constraint-valid improvements are ranked for the operator.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BAA65E27-EA7C-47F7-A9CD-FAAAB10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BUSINESS IMPACT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842F36BC-A8E5-47BF-BD64-D5BD3672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5737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E569CDAA-2988-4D8E-87E2-ECAC5C07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812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EARLIER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577530C1-5CFB-429D-B486-2309E34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6697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risk detection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3B405142-4FDB-42B8-8494-2EBECA20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433A068C-41F8-4E65-AA1A-5ECD1F7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SAFER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A0300C5D-DC0F-44B2-99B9-672E596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set-point guidance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874AFCE9-2009-4760-A0E7-2C70F2C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2F27F418-371E-4E87-9143-C445971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57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CF1AE284-4CC2-441F-85AC-CEF3700F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43475"/>
            <a:ext cx="2000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decision-to-outcome loop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07E07C06-2683-4BC6-8CA4-7868BB1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Advisory by design: the operator remains in control.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VALIDATED ANALYTICS + WORKING PRODUCT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246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5B3003-2C54-13C6-9832-7637201064DE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C7273E1C-74D9-461D-811E-03CB00A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4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57edbeab8454f"/>
          <a:stretch xmlns:a="http://schemas.openxmlformats.org/drawingml/2006/main"/>
        </p:blipFill>
        <p:spPr>
          <a:xfrm xmlns:a="http://schemas.openxmlformats.org/drawingml/2006/main">
            <a:off x="2581848" y="1333500"/>
            <a:ext cx="1265678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46f15ab04c9d"/>
          <a:stretch xmlns:a="http://schemas.openxmlformats.org/drawingml/2006/main"/>
        </p:blipFill>
        <p:spPr>
          <a:xfrm xmlns:a="http://schemas.openxmlformats.org/drawingml/2006/main">
            <a:off x="7558624" y="1333500"/>
            <a:ext cx="2837377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3567adfea49c9"/>
          <a:stretch xmlns:a="http://schemas.openxmlformats.org/drawingml/2006/main"/>
        </p:blipFill>
        <p:spPr>
          <a:xfrm xmlns:a="http://schemas.openxmlformats.org/drawingml/2006/main">
            <a:off x="2125748" y="3476625"/>
            <a:ext cx="2177878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7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87c04b40b4e07"/>
          <a:stretch xmlns:a="http://schemas.openxmlformats.org/drawingml/2006/main"/>
        </p:blipFill>
        <p:spPr>
          <a:xfrm xmlns:a="http://schemas.openxmlformats.org/drawingml/2006/main">
            <a:off x="7283979" y="3476625"/>
            <a:ext cx="3386667" cy="1905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56484C28-A7BE-4CD1-B0EC-58B1974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LIVE OPERATIONS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C7334A3-44FE-4D56-ABBA-0BC5851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EXPLAINABLE PREDICTION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40E47EA9-75C6-4C26-B9B0-C135687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20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CONSTRAINT-AWARE ACTION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62FF9F39-DCEF-4E3A-A7EB-7FF6442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720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ANALYTICS + GOVERNANCE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458712FB-1867-421D-B133-5508389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8237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BB860E06-8A5F-4E67-8559-9EB38CD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47FDEDFD-BA9E-4157-BA24-4A98FDA0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859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0.920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1471368E-A2CF-48A0-B1CA-FB1E5B48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Crossing ROC-AUC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19DE593E-F996-4319-A5AB-28ED506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1125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A384F74-7142-44CF-9851-7F5FD9B7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859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1.388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8EAA77B5-DBB3-41DF-8961-AAFBB361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71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Trajectory MAE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89529C5C-CCE8-4572-9954-059F9432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0A61C837-898D-41A9-9792-A5FD2262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4859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12380EDE-6DC8-4F4B-84C8-28DE677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971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Stabilization R²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EE5AD9B3-61AC-483E-9527-B7869DF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82F4C457-9C88-483A-A00D-2FD0C7C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859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20,000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33BE9188-034A-4F93-9914-172D74B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71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Snapshot records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64B62F00-3A17-499F-9768-55A6C387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16066D52-51DB-40AC-8CE4-136A437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4859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2,544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27B1B81C-D858-4E69-95CF-CB4E360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71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Held-out windows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3FE6E5F1-7BE1-43AB-B68F-AF5DEF39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Validation is grouped by complete transitions: 192 train / 48 held out. Windows never cross transition boundaries.</a:t>
            </a:r>
          </a:p>
        </p:txBody>
      </p:sp>
      <p:pic>
        <p:nvPicPr>
          <p:cNvPr id="174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59d0c8f0e49eb"/>
          <a:stretch xmlns:a="http://schemas.openxmlformats.org/drawingml/2006/main"/>
        </p:blipFill>
        <p:spPr>
          <a:xfrm xmlns:a="http://schemas.openxmlformats.org/drawingml/2006/main">
            <a:off x="1268820" y="3143250"/>
            <a:ext cx="3701235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74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495d8466c4ab0"/>
          <a:stretch xmlns:a="http://schemas.openxmlformats.org/drawingml/2006/main"/>
        </p:blipFill>
        <p:spPr>
          <a:xfrm xmlns:a="http://schemas.openxmlformats.org/drawingml/2006/main">
            <a:off x="6749432" y="3143250"/>
            <a:ext cx="3789011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FFDF409D-390F-43D4-AEA9-68421B8B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REAL-TIME RISK + DRIFT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5FB7A275-16C3-4137-A05B-F7766C3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244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RANKED, EXPLAINED ACTIONS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1F4CF3E-2F88-45C8-B9E4-A259F12B8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75" y="114300"/>
            <a:ext cx="109728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TRY IT, REVIEW IT, BUILD ON IT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3825807-0422-473A-A60E-9AC0AF2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B17B8B-1ED0-4913-9FFE-8CDA6C2D8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C630A04-5A25-9E0C-9436-126091DB86B3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455FFD7-6820-496E-8A61-96B9131370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GradeSense | Honeywell Hackathon Final Submission</a:t>
            </a:r>
          </a:p>
        </p:txBody>
      </p:sp>
      <p:sp>
        <p:nvSpPr>
          <p:cNvPr id="17411" name="">
            <a:extLst xmlns:a="http://schemas.openxmlformats.org/drawingml/2006/main">
              <a:ext uri="{FF2B5EF4-FFF2-40B4-BE49-F238E27FC236}">
                <a16:creationId xmlns:a16="http://schemas.microsoft.com/office/drawing/2014/main" id="{0EAF4CD6-2275-4453-A740-33E3795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114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97061429-9062-47B4-865B-3B72A75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DEPLOYMENT ARCHITECTURE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305032F-BA71-45FC-8046-9395557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E9AAB79-BABB-496A-BB3D-DF33DA9D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4BB8F684-4BA5-4FA9-B708-637E63E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C32AA29-DE20-472C-AA5F-AE44D12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FA42C70-516E-4BBC-A5CB-6F3D73A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9338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53AA18D-563B-42FA-BEFA-3CC128F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BD1654DF-B5B1-4374-88DF-23DCACD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F5ADDB6-2596-425D-AA7E-0A087C9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F92731D5-6952-40B5-9E51-45CDFCB3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Mill browser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9E3D5162-6D96-473F-ADD6-65782979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50786345-AEC8-4718-892C-4B0EBFC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C1DD1EF4-494A-4EE8-87EA-FCA313A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B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B1A2787E-63B7-489B-AC19-F5B5CBB8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TLS gateway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01790FA1-37C6-419E-AE8B-85BD60A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Identity + routing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90A4B631-ED69-4A24-AA2D-5165CFC8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AEF0BFD1-452D-411C-B0F3-8675803F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ACB7D807-FDD3-4F14-9B0C-CD78C76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FastAPI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73A6B7C-EDA1-42D6-B307-5B98804B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752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Nginx, REST, WebSocket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ADFBFD4B-7856-48BD-810B-4CF76EA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133F059F-A96A-417A-83E6-F180DF9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2B24AAFD-F8EB-420A-82D4-B7836B7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954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6E1841E-56F3-4645-B825-3744F69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1943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Durable history + audit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73AA2C25-16D2-4265-81EA-42A10A22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D0444631-F2E6-4A01-A28B-8F0A7B0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REFERENCE DELIVERY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DB17D144-41BD-48F5-87FA-7079CF4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Docker Compose • Render blueprint • Alembic migrations • health checks • read-only model mounts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40F6C591-1452-42E2-BDDA-1D903C41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PILOT NEXT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8E382DB1-ABB7-4E7E-855B-8FE2542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667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 PLC/SCADA data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Calibrate on plant history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Enable SSO and governed roles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Measure off-spec and stabilization outcomes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5C06B56D-AB92-4816-8DC2-BD51E429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191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3231AF61-7078-4588-9632-28C8A763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984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GradeSense turns model output into safe, explainable, measurable operator action.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FEFE66FF-6A9F-42F1-B46A-0C52014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38237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08F0CAE9-3451-4F86-84C3-581CE77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28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GradeSense turns model output into safe, explainable, measurable operator action.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CC9B1906-FDF6-4D4E-B8A2-B8362942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976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E53FB515-D56B-47DE-914E-56728D6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D9FF5D0D-EA1F-4D40-8A40-2139D91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09800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https://gradesense-4weh.onrender.com/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28033689-F13A-4616-AA9A-8CA2C6CF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28925"/>
            <a:ext cx="976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96693F61-72AD-4194-9408-3AF250A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B2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B22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59230EFF-2053-431F-B8D2-0CBC9068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https://github.com/bhavukm007/GradeSense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B261CC18-907A-409E-B30D-D71B6599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976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987FAF4D-5ECE-41F1-9D7C-8F459772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API DOCUMENTATION</a:t>
            </a:r>
          </a:p>
        </p:txBody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F7A845D9-940C-49A4-AFB3-B06F0D4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81400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https://gradesense-api.onrender.com/docs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3B3CA959-D7F5-43B7-845C-11BB096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00525"/>
            <a:ext cx="9763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C9D97AB5-8E8E-4FBC-9DA9-586EFC3D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DEMO VIDEO</a:t>
            </a:r>
          </a:p>
        </p:txBody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2368F793-37AA-4784-8D99-B47BF556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67200"/>
            <a:ext cx="6905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https://drive.google.com/file/d/1rCr3CzuCit0O029VzyxIhHoR1lv9E93E/view?usp=sharing</a:t>
            </a:r>
          </a:p>
        </p:txBody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55BE531B-450D-48DB-B5C4-B9889637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Pilot next: historian integration, mill-specific calibration, identity controls, and measured avoided off-spec production.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2026-07-26T17:00:08.4640000Z</dcterms:created>
  <dcterms:modified xsi:type="dcterms:W3CDTF">2026-07-26T17:00:08.4650000Z</dcterms:modified>
</coreProperties>
</file>