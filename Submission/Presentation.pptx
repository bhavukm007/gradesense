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22549ae2e74c33" /><Relationship Type="http://schemas.openxmlformats.org/officeDocument/2006/relationships/extended-properties" Target="/docProps/app.xml" Id="R27e81df22f0946d6" /><Relationship Type="http://schemas.openxmlformats.org/officeDocument/2006/relationships/officeDocument" Target="/ppt/presentation.xml" Id="R988370cb0a2840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ac59c0212948ce"/>
  </p:sldMasterIdLst>
  <p:notesMasterIdLst>
    <p:notesMasterId xmlns:r="http://schemas.openxmlformats.org/officeDocument/2006/relationships" r:id="R2f21b3eaa3174f4b"/>
  </p:notesMasterIdLst>
  <p:sldIdLst>
    <p:sldId xmlns:r="http://schemas.openxmlformats.org/officeDocument/2006/relationships" id="256" r:id="R825637271ecc4e7f"/>
    <p:sldId xmlns:r="http://schemas.openxmlformats.org/officeDocument/2006/relationships" id="257" r:id="R111e779445f44003"/>
    <p:sldId xmlns:r="http://schemas.openxmlformats.org/officeDocument/2006/relationships" id="258" r:id="R0bab2eb6da1847a9"/>
    <p:sldId xmlns:r="http://schemas.openxmlformats.org/officeDocument/2006/relationships" id="259" r:id="Rf7f33e06004d4a8c"/>
    <p:sldId xmlns:r="http://schemas.openxmlformats.org/officeDocument/2006/relationships" id="260" r:id="R2386c2677f0d4d6f"/>
    <p:sldId xmlns:r="http://schemas.openxmlformats.org/officeDocument/2006/relationships" id="261" r:id="R00f6f580531c4d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60236060ec4054" /><Relationship Type="http://schemas.openxmlformats.org/officeDocument/2006/relationships/slideMaster" Target="/ppt/slideMasters/slideMaster1.xml" Id="R8cac59c0212948ce" /><Relationship Type="http://schemas.openxmlformats.org/officeDocument/2006/relationships/notesMaster" Target="/ppt/notesMasters/notesMaster1.xml" Id="R2f21b3eaa3174f4b" /><Relationship Type="http://schemas.openxmlformats.org/officeDocument/2006/relationships/presProps" Target="/ppt/presProps.xml" Id="Rb8eaac99735f4479" /><Relationship Type="http://schemas.openxmlformats.org/officeDocument/2006/relationships/viewProps" Target="/ppt/viewProps.xml" Id="Rd70ac816257c4d7a" /><Relationship Type="http://schemas.openxmlformats.org/officeDocument/2006/relationships/tableStyles" Target="/ppt/tableStyles.xml" Id="Rc24624802a2044da" /><Relationship Type="http://schemas.openxmlformats.org/officeDocument/2006/relationships/slide" Target="/ppt/slides/slide1.xml" Id="R825637271ecc4e7f" /><Relationship Type="http://schemas.openxmlformats.org/officeDocument/2006/relationships/slide" Target="/ppt/slides/slide2.xml" Id="R111e779445f44003" /><Relationship Type="http://schemas.openxmlformats.org/officeDocument/2006/relationships/slide" Target="/ppt/slides/slide3.xml" Id="R0bab2eb6da1847a9" /><Relationship Type="http://schemas.openxmlformats.org/officeDocument/2006/relationships/slide" Target="/ppt/slides/slide4.xml" Id="Rf7f33e06004d4a8c" /><Relationship Type="http://schemas.openxmlformats.org/officeDocument/2006/relationships/slide" Target="/ppt/slides/slide5.xml" Id="R2386c2677f0d4d6f" /><Relationship Type="http://schemas.openxmlformats.org/officeDocument/2006/relationships/slide" Target="/ppt/slides/slide6.xml" Id="R00f6f580531c4d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7937bb021b4e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4788c1df8a4058" /><Relationship Type="http://schemas.openxmlformats.org/officeDocument/2006/relationships/notesMaster" Target="/ppt/notesMasters/notesMaster1.xml" Id="R7ce3326ffc0745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35a242888b4504" /><Relationship Type="http://schemas.openxmlformats.org/officeDocument/2006/relationships/notesMaster" Target="/ppt/notesMasters/notesMaster1.xml" Id="R46e2ee8d80ae4e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721876f0074bd6" /><Relationship Type="http://schemas.openxmlformats.org/officeDocument/2006/relationships/notesMaster" Target="/ppt/notesMasters/notesMaster1.xml" Id="R5b4ea31157b54c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f12ad1c6cd4a8e" /><Relationship Type="http://schemas.openxmlformats.org/officeDocument/2006/relationships/notesMaster" Target="/ppt/notesMasters/notesMaster1.xml" Id="R37e86bb5bdfb4a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f475f9e87d4147" /><Relationship Type="http://schemas.openxmlformats.org/officeDocument/2006/relationships/notesMaster" Target="/ppt/notesMasters/notesMaster1.xml" Id="R46e2b3dcf51246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00387b1e664751" /><Relationship Type="http://schemas.openxmlformats.org/officeDocument/2006/relationships/notesMaster" Target="/ppt/notesMasters/notesMaster1.xml" Id="Rbe9b357a842c4b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GradeSense repository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[Sources]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Honeywell challenge statement supplied by the participant; internal GradeSense repository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[Sources]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Internal GradeSense architecture and deployment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[Sources]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Internal production captures stored in Submission/deployed_screenshots.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[Sources]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Internal GradeSense model and service documentation. Impact language is directional.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[Sources]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GitHub Repository: https://github.com/bhavukm007/GradeSense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Live Deployment: https://gradesense-4weh.onrender.com/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Demo Video: https://drive.google.com/file/d/1rCr3CzuCit0O029VzyxIhHoR1lv9E93E/view?usp=sharing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c843a94ac842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0a32d5aa142a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3a60272dcb4d7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e00187989546a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c3c47d69ee495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149d3eeabf42a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1bb919f8b147d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d9ebf279b44c2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37edef211d498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1c47d6b139497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150b7399ce41c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F358AC-4DD8-4937-8825-B807E8A0E13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4400" y="2130428"/>
            <a:ext cx="103632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75311F32-7D59-40CC-B200-8E3707780C9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886200"/>
            <a:ext cx="85344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3B59E59-61BF-4DE6-9D61-F506706A40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60792E3-D524-454C-8AFD-A91972900BCB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28256E-1021-47F6-93A3-C7D234D650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FEB161-4CC4-4B78-8E63-CC622D8A996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5B7E1BAA-A38D-40DE-B22C-DF9BD7D82058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06BB14-4F22-47F2-B3DA-2700FB57F0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CF6F24A-4367-49F9-8633-74D4183C9B2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592478-B63C-4F32-9EE5-0A228AF63B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708B7524-32A2-4C20-A58C-BC3BAA1042FC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6B6AFF-FB70-4A7A-991A-5B0E5726DD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1930F3-2BB1-480D-931A-3454AECA0E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77C3CE7-23F7-4828-823C-E0205DF2CF97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F80B92-1CB4-486A-80A7-58E76C4C81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3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A5442C-0E41-42C0-A385-15DC4CACDF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72FC2E-A4FA-480D-A3B5-6DF273A7FD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1E994447-D6B2-43BB-A877-57F1A267B999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8A4331-8F55-40AC-8FC1-2D44F0E9F6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915FBFB-441A-4854-996C-0E2F8BDD4E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41DB31D2-2A87-4F4C-A9AD-05C6CC2B321D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2C7BAE-4A9B-4FD5-B108-F1D78D0DBD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5F50F3B-A682-4353-A214-2F5DA1D7AA4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3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B195978-DACD-4E8E-B1E4-7C4A649F680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3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217663-AF61-45BF-ADD7-D1442D5A91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8920E16-BD35-483C-AA6B-346FC7E46DEA}" type="datetime1">
              <a:t>7/24/2026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D43BC31-D83F-4A93-8507-D3FF5169B1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3FB3F0-5598-4841-9743-22912E5004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1FC16D9-1635-4844-816A-0A8A2160FADA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10762D-75AD-43D3-9AC4-1331DF6B85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C630F1-8689-4DDC-BDAB-AC0F016A59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9E96E7C-F39E-4A3B-9B73-5BA325E824D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3E86B4B-CF78-4C24-B37B-054B042534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69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61DEFAD-BF66-461B-9E82-7D5ECC8129E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69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3E7589-E20E-41DD-9E15-B38D5C037D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FEAC6F8-5103-4FC0-A69E-5C6AE6469DA8}" type="datetime1">
              <a:t>7/24/2026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D9160E-1597-41CB-A406-E7F9C50E82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82E8EFA-6879-4F96-9F58-4967F62C58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71C4100A-98DE-4944-910A-A93F5CA9F72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9BA7B6-2999-4103-A2F7-8FB7403000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E5291A-9305-4D5A-AC5F-B46563937E3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C60C6921-0627-4C8F-83D5-0CF936D2FFDD}" type="datetime1">
              <a:t>7/24/2026</a:t>
            </a:fld>
          </a:p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0996CBA-3575-42BF-89E8-60A51297EE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5549FE6-74C7-472A-A740-E6BB4B035B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A63342B-5A73-45DC-864D-086DE78037E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BF8481-E60C-45A7-88EA-6708BF459A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FF08AD7-8103-40F8-983C-E2BA6BB9CBE0}" type="datetime1">
              <a:t>7/24/2026</a:t>
            </a:fld>
          </a:p>
        </p:txBody>
      </p:sp>
      <p:sp>
        <p:nvSpPr>
          <p:cNvPr id="3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384EEE-4992-4343-AB83-E30FA16B00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4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EA320E-4F77-4A8F-95F9-9C19BC310E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B635AFB3-1ACD-44AC-8702-86B1729DF035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F9ED5E5-A9E7-4A8C-80DD-4AFD663CC6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2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F1553F-9FB6-4F92-8907-059324BEF1F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3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74D1ABC-F195-4B0A-9C49-1A17DE73765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2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5B2ED5-A34B-4D35-BE92-2596BEC24C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DF8C06B4-9380-4A4D-AF49-A3596E17DAF5}" type="datetime1">
              <a:t>7/24/2026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37ABFC0-A409-4A77-9F42-531B260EC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46900C-BBC1-4FF5-8E85-990882CD1A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05CF15F3-5E77-4C57-9E21-50D6D1D6C022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F26EBC-F566-4975-8ABD-943A5FD68B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C135AE1-D7A3-41A4-AC30-155987FE994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72851F-9E1B-4722-8E3E-BFD601131E5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FEE616A-A5BD-4DD0-B4DC-9F4A2F7591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F7FDEF1-C582-4E22-9E77-D68326471F28}" type="datetime1">
              <a:t>7/24/2026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5BB16B6-84AB-48B4-8D5C-650848DE05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92EE4D-E119-457D-A811-EEC4A1EBD6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1242169A-B3C7-4FB6-967F-AF95F4EB3315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A5425A-AF27-40AB-BA67-9EFF500BC3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FF8F1-C066-44B3-AAB8-07E1A4CF52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1D75B1-0101-4566-85E8-CEEB92B819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053C3A68-6922-42D3-8905-ECC2D82A3469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11B8EE-4605-43B8-9D06-ABCEE84FD7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8F4BEB-B666-4FA0-A217-B65EE03097C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94FDD027-5576-4F27-AAB6-1D994836EE78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0C0692A-B884-4A56-9754-42EB507FAD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1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8E93366-3392-45E2-B558-6D5AFE91A1A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1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8A2AA2-0F01-473C-AA03-DB8FFFED1B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CB69E9F4-7604-4950-A8B2-8ACDEDB1506E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D092F1-C21E-4D1C-8544-0B77A30EFE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58ED9E-BB29-449C-B6E3-E3567DEBA6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957CE61-8714-431B-A40A-01B1C5541AB7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45de92a5ed48b3" /><Relationship Type="http://schemas.openxmlformats.org/officeDocument/2006/relationships/slideLayout" Target="/ppt/slideLayouts/slideLayout1.xml" Id="R15f7dc41aedb4f92" /><Relationship Type="http://schemas.openxmlformats.org/officeDocument/2006/relationships/slideLayout" Target="/ppt/slideLayouts/slideLayout2.xml" Id="R27781c44e0b349d6" /><Relationship Type="http://schemas.openxmlformats.org/officeDocument/2006/relationships/slideLayout" Target="/ppt/slideLayouts/slideLayout3.xml" Id="Rc76150fe06214890" /><Relationship Type="http://schemas.openxmlformats.org/officeDocument/2006/relationships/slideLayout" Target="/ppt/slideLayouts/slideLayout4.xml" Id="R9e78d54b86b04bf4" /><Relationship Type="http://schemas.openxmlformats.org/officeDocument/2006/relationships/slideLayout" Target="/ppt/slideLayouts/slideLayout5.xml" Id="Rffb1222e9b7b4566" /><Relationship Type="http://schemas.openxmlformats.org/officeDocument/2006/relationships/slideLayout" Target="/ppt/slideLayouts/slideLayout6.xml" Id="R37543d6fa86f4bb6" /><Relationship Type="http://schemas.openxmlformats.org/officeDocument/2006/relationships/slideLayout" Target="/ppt/slideLayouts/slideLayout7.xml" Id="R019afe1812b94bfe" /><Relationship Type="http://schemas.openxmlformats.org/officeDocument/2006/relationships/slideLayout" Target="/ppt/slideLayouts/slideLayout8.xml" Id="R2de7502262644f61" /><Relationship Type="http://schemas.openxmlformats.org/officeDocument/2006/relationships/slideLayout" Target="/ppt/slideLayouts/slideLayout9.xml" Id="Raf126c91011f4fd5" /><Relationship Type="http://schemas.openxmlformats.org/officeDocument/2006/relationships/slideLayout" Target="/ppt/slideLayouts/slideLayout10.xml" Id="Rdce415d2694f405f" /><Relationship Type="http://schemas.openxmlformats.org/officeDocument/2006/relationships/slideLayout" Target="/ppt/slideLayouts/slideLayout11.xml" Id="R07a44436c2264ef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6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0584CDA-95B7-488E-ADAE-9210D40446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-47625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title style</a:t>
            </a:r>
          </a:p>
        </p:txBody>
      </p:sp>
      <p:sp>
        <p:nvSpPr>
          <p:cNvPr id="1027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E992E5-00CA-48A4-B8A4-D6CA465015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095375"/>
            <a:ext cx="10972800" cy="5030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841FDB-BF9F-483B-82D8-E2600C2FDE8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3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>
            <a:lvl1pPr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fld id="{780A9602-A9A9-453F-AEF1-37B5837E02CD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145C47-3BD7-4454-A0DF-42992EAB914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3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B68189-E895-4237-985D-B2D1217F11E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3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fld id="{1411BA53-830D-4830-BB65-E58DBE17D0B7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f7dc41aedb4f92"/>
    <p:sldLayoutId xmlns:r="http://schemas.openxmlformats.org/officeDocument/2006/relationships" id="2147483650" r:id="R27781c44e0b349d6"/>
    <p:sldLayoutId xmlns:r="http://schemas.openxmlformats.org/officeDocument/2006/relationships" id="2147483651" r:id="Rc76150fe06214890"/>
    <p:sldLayoutId xmlns:r="http://schemas.openxmlformats.org/officeDocument/2006/relationships" id="2147483652" r:id="R9e78d54b86b04bf4"/>
    <p:sldLayoutId xmlns:r="http://schemas.openxmlformats.org/officeDocument/2006/relationships" id="2147483653" r:id="Rffb1222e9b7b4566"/>
    <p:sldLayoutId xmlns:r="http://schemas.openxmlformats.org/officeDocument/2006/relationships" id="2147483654" r:id="R37543d6fa86f4bb6"/>
    <p:sldLayoutId xmlns:r="http://schemas.openxmlformats.org/officeDocument/2006/relationships" id="2147483655" r:id="R019afe1812b94bfe"/>
    <p:sldLayoutId xmlns:r="http://schemas.openxmlformats.org/officeDocument/2006/relationships" id="2147483656" r:id="R2de7502262644f61"/>
    <p:sldLayoutId xmlns:r="http://schemas.openxmlformats.org/officeDocument/2006/relationships" id="2147483657" r:id="Raf126c91011f4fd5"/>
    <p:sldLayoutId xmlns:r="http://schemas.openxmlformats.org/officeDocument/2006/relationships" id="2147483658" r:id="Rdce415d2694f405f"/>
    <p:sldLayoutId xmlns:r="http://schemas.openxmlformats.org/officeDocument/2006/relationships" id="2147483659" r:id="R07a44436c2264ef8"/>
  </p:sldLayoutIdLst>
  <p:hf hdr="0" dt="0"/>
  <p:txStyles>
    <p:titleStyle>
      <a:lvl1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2pPr>
      <a:lvl3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3pPr>
      <a:lvl4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4pPr>
      <a:lvl5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5pPr>
      <a:lvl6pPr xmlns:a="http://schemas.openxmlformats.org/drawingml/2006/main" marL="4572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6pPr>
      <a:lvl7pPr xmlns:a="http://schemas.openxmlformats.org/drawingml/2006/main" marL="9144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7pPr>
      <a:lvl8pPr xmlns:a="http://schemas.openxmlformats.org/drawingml/2006/main" marL="13716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8pPr>
      <a:lvl9pPr xmlns:a="http://schemas.openxmlformats.org/drawingml/2006/main" marL="18288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9pPr>
    </p:titleStyle>
    <p:bodyStyle>
      <a:lvl1pPr xmlns:a="http://schemas.openxmlformats.org/drawingml/2006/main" marL="342900" indent="-342900" algn="l" defTabSz="457200">
        <a:spcBef>
          <a:spcPct val="20000"/>
        </a:spcBef>
        <a:spcAft>
          <a:spcPct val="0"/>
        </a:spcAft>
        <a:buFont typeface="Arial"/>
        <a:buChar char="•"/>
        <a:defRPr sz="32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xmlns:a="http://schemas.openxmlformats.org/drawingml/2006/main" marL="742950" indent="-285750" algn="l" defTabSz="457200">
        <a:spcBef>
          <a:spcPct val="20000"/>
        </a:spcBef>
        <a:spcAft>
          <a:spcPct val="0"/>
        </a:spcAft>
        <a:buFont typeface="Arial"/>
        <a:buChar char="–"/>
        <a:defRPr sz="2800" kern="1200">
          <a:solidFill>
            <a:schemeClr val="tx1"/>
          </a:solidFill>
          <a:latin typeface="TradeGothic"/>
          <a:ea typeface="TradeGothic"/>
          <a:cs typeface="TradeGothic"/>
        </a:defRPr>
      </a:lvl2pPr>
      <a:lvl3pPr xmlns:a="http://schemas.openxmlformats.org/drawingml/2006/main" marL="1143000" indent="-228600" algn="l" defTabSz="457200">
        <a:spcBef>
          <a:spcPct val="20000"/>
        </a:spcBef>
        <a:spcAft>
          <a:spcPct val="0"/>
        </a:spcAft>
        <a:buFont typeface="Arial"/>
        <a:buChar char="•"/>
        <a:defRPr sz="2400" kern="1200">
          <a:solidFill>
            <a:schemeClr val="tx1"/>
          </a:solidFill>
          <a:latin typeface="TradeGothic"/>
          <a:ea typeface="TradeGothic"/>
          <a:cs typeface="TradeGothic"/>
        </a:defRPr>
      </a:lvl3pPr>
      <a:lvl4pPr xmlns:a="http://schemas.openxmlformats.org/drawingml/2006/main" marL="1600200" indent="-228600" algn="l" defTabSz="457200">
        <a:spcBef>
          <a:spcPct val="20000"/>
        </a:spcBef>
        <a:spcAft>
          <a:spcPct val="0"/>
        </a:spcAft>
        <a:buFont typeface="Arial"/>
        <a:buChar char="–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4pPr>
      <a:lvl5pPr xmlns:a="http://schemas.openxmlformats.org/drawingml/2006/main" marL="2057400" indent="-228600" algn="l" defTabSz="457200">
        <a:spcBef>
          <a:spcPct val="20000"/>
        </a:spcBef>
        <a:spcAft>
          <a:spcPct val="0"/>
        </a:spcAft>
        <a:buFont typeface="Arial"/>
        <a:buChar char="»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60ba0e9d784981" /><Relationship Type="http://schemas.openxmlformats.org/officeDocument/2006/relationships/notesSlide" Target="/ppt/notesSlides/notesSlide1.xml" Id="R54fc210ae3ee41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717fb9dfeb4a78" /><Relationship Type="http://schemas.openxmlformats.org/officeDocument/2006/relationships/notesSlide" Target="/ppt/notesSlides/notesSlide2.xml" Id="Rc8938bff83d440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ba69483a1c445b" /><Relationship Type="http://schemas.openxmlformats.org/officeDocument/2006/relationships/notesSlide" Target="/ppt/notesSlides/notesSlide3.xml" Id="R8a1575f4642647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8d0307fbcf4be6" /><Relationship Type="http://schemas.openxmlformats.org/officeDocument/2006/relationships/image" Target="/ppt/media/image.jpeg" Id="R98cd31347ad244c8" /><Relationship Type="http://schemas.openxmlformats.org/officeDocument/2006/relationships/image" Target="/ppt/media/image2.jpeg" Id="Ra6d99e9a89424464" /><Relationship Type="http://schemas.openxmlformats.org/officeDocument/2006/relationships/image" Target="/ppt/media/image3.jpeg" Id="Rd9566c1486834bb3" /><Relationship Type="http://schemas.openxmlformats.org/officeDocument/2006/relationships/notesSlide" Target="/ppt/notesSlides/notesSlide4.xml" Id="Rb27447d24cc744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780b6038df44e2" /><Relationship Type="http://schemas.openxmlformats.org/officeDocument/2006/relationships/notesSlide" Target="/ppt/notesSlides/notesSlide5.xml" Id="R99c0b779d6fd42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1dfcf3ce7240f1" /><Relationship Type="http://schemas.openxmlformats.org/officeDocument/2006/relationships/notesSlide" Target="/ppt/notesSlides/notesSlide6.xml" Id="Raa00c82e567c454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GradeSense Final Submission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  <p:sp>
        <p:nvSpPr>
          <p:cNvPr id="6" name="Subtitle 3">
            <a:extLst xmlns:a="http://schemas.openxmlformats.org/drawingml/2006/main"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5369" y="-365784"/>
            <a:ext cx="85344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>
            <a:lvl1pPr marL="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  <a:lvl2pPr marL="4572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2pPr>
            <a:lvl3pPr marL="9144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3pPr>
            <a:lvl4pPr marL="13716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4pPr>
            <a:lvl5pPr marL="18288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5pPr>
            <a:lvl6pPr marL="22860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t/>
            </a:r>
          </a:p>
          <a:p xmlns:a="http://schemas.openxmlformats.org/drawingml/2006/main">
            <a:r>
              <a:rPr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GRADESENSE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4" y="1203454"/>
            <a:ext cx="5924550" cy="6217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Explainable AI for Paper Grade Transitions</a:t>
            </a:r>
          </a:p>
          <a:p xmlns:a="http://schemas.openxmlformats.org/drawingml/2006/main"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Problem: predict off-spec basis-weight risk before limits are exceeded</a:t>
            </a:r>
          </a:p>
          <a:p xmlns:a="http://schemas.openxmlformats.org/drawingml/2006/main"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Team: GradeSense | Bhavuk Mahajan</a:t>
            </a:r>
          </a:p>
          <a:p xmlns:a="http://schemas.openxmlformats.org/drawingml/2006/main"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Honeywell Hackathon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361" name="Title 1">
            <a:extLst xmlns:a="http://schemas.openxmlformats.org/drawingml/2006/main">
              <a:ext uri="{FF2B5EF4-FFF2-40B4-BE49-F238E27FC236}">
                <a16:creationId xmlns:a16="http://schemas.microsoft.com/office/drawing/2014/main" id="{441CD315-56E6-4B8B-AC8B-BFC235C4D2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998" y="0"/>
            <a:ext cx="10972800" cy="1143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/>
            </a:r>
          </a:p>
          <a:p xmlns:a="http://schemas.openxmlformats.org/drawingml/2006/main">
            <a:pPr>
              <a:buNone/>
            </a:pPr>
            <a:r>
              <a:t>PROBLEM</a:t>
            </a:r>
          </a:p>
        </p:txBody>
      </p:sp>
      <p:sp>
        <p:nvSpPr>
          <p:cNvPr id="15362" name="TextBox 8">
            <a:extLst xmlns:a="http://schemas.openxmlformats.org/drawingml/2006/main">
              <a:ext uri="{FF2B5EF4-FFF2-40B4-BE49-F238E27FC236}">
                <a16:creationId xmlns:a16="http://schemas.microsoft.com/office/drawing/2014/main" id="{F559522C-4BBC-4917-A27E-EEDA7082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" y="2064921"/>
            <a:ext cx="12191999" cy="332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200" b="1" u="sng">
                <a:latin typeface="Arial"/>
                <a:ea typeface="Arial"/>
                <a:cs typeface="Arial"/>
              </a:rPr>
              <a:t>Paper grade transitions are difficult to stabilize because quality depends on interacting variables over time.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t>Off-spec behavior is often detected after material has already been produced.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t>Sensor trends, confidence, alerts, and historical outcomes are fragmented.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Black-box predictions do not explain why risk changed or which action is safe.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GradeSense must predict early, explain clearly, recommend safely, and keep operators in control.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902C5B-06C5-4ACE-ABB2-F355FBB02B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rPr b="1">
                <a:solidFill>
                  <a:schemeClr val="bg1"/>
                </a:solidFill>
              </a:rPr>
              <a:t>2</a:t>
            </a:fld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B172322F-9741-4742-997B-621561B676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chemeClr val="bg1"/>
                </a:solidFill>
              </a:rPr>
              <a:t>GradeSense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5772616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92728589-528F-456B-A54E-21D72BB7B2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TECHNICAL APPROACH</a:t>
            </a:r>
          </a:p>
        </p:txBody>
      </p:sp>
      <p:sp>
        <p:nvSpPr>
          <p:cNvPr id="17410" name="TextBox 8">
            <a:extLst xmlns:a="http://schemas.openxmlformats.org/drawingml/2006/main">
              <a:ext uri="{FF2B5EF4-FFF2-40B4-BE49-F238E27FC236}">
                <a16:creationId xmlns:a16="http://schemas.microsoft.com/office/drawing/2014/main" id="{887A732D-A272-4074-905A-590AC908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3"/>
            <a:ext cx="9385300" cy="3931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React + TypeScript dashboard -&gt; FastAPI REST and WebSocket layer -&gt; domain services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Snapshot ML + direct-horizon forecasting -&gt; explainability -&gt; safe recommendation ranking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SQLAlchemy + PostgreSQL/SQLite persist predictions, alerts, decisions, outcomes, audit, and models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Dockerized frontend/backend deployment on Render with health checks and environment configuration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6172D1-BFCF-4143-95A2-87D8A79726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 b="1">
                <a:solidFill>
                  <a:schemeClr val="bg1"/>
                </a:solidFill>
              </a:rPr>
              <a:t>3</a:t>
            </a:fld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79B2002B-47CA-45AC-BC1C-9ACC569952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chemeClr val="bg1"/>
                </a:solidFill>
              </a:rPr>
              <a:t>GradeSense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26505274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742885E2-060A-4AEF-BB48-37B751AD55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SOLUTION DEMONSTRATION</a:t>
            </a:r>
          </a:p>
        </p:txBody>
      </p:sp>
      <p:sp>
        <p:nvSpPr>
          <p:cNvPr id="17410" name="TextBox 8">
            <a:extLst xmlns:a="http://schemas.openxmlformats.org/drawingml/2006/main">
              <a:ext uri="{FF2B5EF4-FFF2-40B4-BE49-F238E27FC236}">
                <a16:creationId xmlns:a16="http://schemas.microsoft.com/office/drawing/2014/main" id="{F5BEE7BB-7277-4E8A-8786-84DB0A9B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3"/>
            <a:ext cx="9385300" cy="1384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2C5C9C-1225-48A6-8F81-98A54F9E89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FD6AB9A-5F9E-5F59-51AB-3C8734130965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4</a:t>
            </a:fld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34B0767-2F2D-4B0F-B022-BA362FD509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GradeSense Final Submission</a:t>
            </a:r>
          </a:p>
        </p:txBody>
      </p:sp>
      <p:pic>
        <p:nvPicPr>
          <p:cNvPr id="174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d31347ad244c8"/>
          <a:srcRect xmlns:a="http://schemas.openxmlformats.org/drawingml/2006/main" l="14474" t="0" r="1447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" y="2095500"/>
            <a:ext cx="3429000" cy="2714625"/>
          </a:xfrm>
          <a:prstGeom xmlns:a="http://schemas.openxmlformats.org/drawingml/2006/main" prst="rect">
            <a:avLst/>
          </a:prstGeom>
        </p:spPr>
      </p:pic>
      <p:pic>
        <p:nvPicPr>
          <p:cNvPr id="174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d99e9a89424464"/>
          <a:srcRect xmlns:a="http://schemas.openxmlformats.org/drawingml/2006/main" l="7596" t="0" r="759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2095500"/>
            <a:ext cx="3429000" cy="2714625"/>
          </a:xfrm>
          <a:prstGeom xmlns:a="http://schemas.openxmlformats.org/drawingml/2006/main" prst="rect">
            <a:avLst/>
          </a:prstGeom>
        </p:spPr>
      </p:pic>
      <p:pic>
        <p:nvPicPr>
          <p:cNvPr id="174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66c1486834bb3"/>
          <a:srcRect xmlns:a="http://schemas.openxmlformats.org/drawingml/2006/main" l="0" t="4747" r="0" b="47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72450" y="2095500"/>
            <a:ext cx="3429000" cy="2714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INNOVATION + RESULTS</a:t>
            </a:r>
          </a:p>
        </p:txBody>
      </p:sp>
      <p:sp>
        <p:nvSpPr>
          <p:cNvPr id="17410" name="TextBox 8">
            <a:extLst xmlns:a="http://schemas.openxmlformats.org/drawingml/2006/main"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3"/>
            <a:ext cx="9385300" cy="350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Early basis-weight risk visibility supports intervention before avoidable off-spec production.</a:t>
            </a:r>
          </a:p>
          <a:p xmlns:a="http://schemas.openxmlformats.org/drawingml/2006/main">
            <a:pPr marL="800100" lvl="1" indent="-342900"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Direct-horizon forecasting reduces recursive error accumulation during grade transitions.</a:t>
            </a:r>
          </a:p>
          <a:p xmlns:a="http://schemas.openxmlformats.org/drawingml/2006/main">
            <a:pPr marL="800100" lvl="1" indent="-342900">
              <a:buFont typeface="Arial"/>
              <a:buChar char="•"/>
            </a:pPr>
            <a:r>
              <a:rPr sz="2800" b="0" i="0" u="none" cap="none">
                <a:ln>
                  <a:noFill/>
                </a:ln>
                <a:solidFill>
                  <a:prstClr val="black"/>
                </a:solidFill>
                <a:latin typeface="Arial"/>
                <a:ea typeface="Arial"/>
                <a:cs typeface="Arial"/>
              </a:rPr>
              <a:t>Explainable, constraint-checked recommendations keep operators in the decision loop.</a:t>
            </a:r>
          </a:p>
          <a:p xmlns:a="http://schemas.openxmlformats.org/drawingml/2006/main">
            <a:pPr marL="800100" lvl="1" indent="-342900"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Predictions, decisions, and outcomes form an auditable learning loop, deployed live on Render.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E5B3003-2C54-13C6-9832-7637201064DE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5</a:t>
            </a:fld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GradeSense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9734478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509D7DE6-9ABA-4227-A19C-1BF45F8E36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REFERENCES</a:t>
            </a:r>
          </a:p>
        </p:txBody>
      </p:sp>
      <p:sp>
        <p:nvSpPr>
          <p:cNvPr id="17410" name="TextBox 8">
            <a:extLst xmlns:a="http://schemas.openxmlformats.org/drawingml/2006/main">
              <a:ext uri="{FF2B5EF4-FFF2-40B4-BE49-F238E27FC236}">
                <a16:creationId xmlns:a16="http://schemas.microsoft.com/office/drawing/2014/main" id="{29B7969C-94D0-442F-97D8-2F61150B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5263"/>
            <a:ext cx="9385300" cy="350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GitHub Repository</a:t>
            </a:r>
          </a:p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https://github.com/bhavukm007/GradeSense</a:t>
            </a:r>
          </a:p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Live Deployment</a:t>
            </a:r>
          </a:p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https://gradesense-4weh.onrender.com/</a:t>
            </a:r>
          </a:p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Demo Video</a:t>
            </a:r>
          </a:p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https://drive.google.com/file/d/1rCr3CzuCit0O029VzyxIhHoR1lv9E93E/view?usp=sharing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078026B-3ED8-498E-AFDD-151B4E1B51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8C630A04-5A25-9E0C-9436-126091DB86B3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6</a:t>
            </a:fld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B18EBF17-90B1-430C-BBEF-DF92627C00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GradeSense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2026-07-26T16:36:28.6250000Z</dcterms:created>
  <dcterms:modified xsi:type="dcterms:W3CDTF">2026-07-26T16:36:28.6250000Z</dcterms:modified>
</coreProperties>
</file>